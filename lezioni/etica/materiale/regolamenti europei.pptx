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331" r:id="rId3"/>
    <p:sldId id="332" r:id="rId4"/>
    <p:sldId id="356" r:id="rId5"/>
    <p:sldId id="313" r:id="rId6"/>
    <p:sldId id="341" r:id="rId7"/>
    <p:sldId id="337" r:id="rId8"/>
    <p:sldId id="345" r:id="rId9"/>
    <p:sldId id="339" r:id="rId10"/>
    <p:sldId id="348" r:id="rId11"/>
    <p:sldId id="346" r:id="rId12"/>
    <p:sldId id="347" r:id="rId13"/>
    <p:sldId id="342" r:id="rId14"/>
    <p:sldId id="343" r:id="rId15"/>
    <p:sldId id="349" r:id="rId16"/>
    <p:sldId id="350" r:id="rId17"/>
    <p:sldId id="351" r:id="rId18"/>
    <p:sldId id="353" r:id="rId19"/>
    <p:sldId id="354" r:id="rId20"/>
    <p:sldId id="335" r:id="rId21"/>
    <p:sldId id="357" r:id="rId22"/>
    <p:sldId id="358" r:id="rId23"/>
    <p:sldId id="359" r:id="rId24"/>
    <p:sldId id="360" r:id="rId25"/>
    <p:sldId id="352" r:id="rId26"/>
    <p:sldId id="361" r:id="rId27"/>
    <p:sldId id="362" r:id="rId28"/>
    <p:sldId id="365" r:id="rId29"/>
    <p:sldId id="364" r:id="rId30"/>
    <p:sldId id="366" r:id="rId31"/>
    <p:sldId id="367" r:id="rId32"/>
    <p:sldId id="368" r:id="rId33"/>
    <p:sldId id="369" r:id="rId3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74" autoAdjust="0"/>
  </p:normalViewPr>
  <p:slideViewPr>
    <p:cSldViewPr snapToGrid="0">
      <p:cViewPr varScale="1">
        <p:scale>
          <a:sx n="71" d="100"/>
          <a:sy n="71" d="100"/>
        </p:scale>
        <p:origin x="67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FBDD8F-665F-4AF6-B555-03458DBC6D60}" type="doc">
      <dgm:prSet loTypeId="urn:microsoft.com/office/officeart/2005/8/layout/default" loCatId="list" qsTypeId="urn:microsoft.com/office/officeart/2005/8/quickstyle/simple4" qsCatId="simple" csTypeId="urn:microsoft.com/office/officeart/2005/8/colors/accent0_3" csCatId="mainScheme" phldr="1"/>
      <dgm:spPr/>
      <dgm:t>
        <a:bodyPr/>
        <a:lstStyle/>
        <a:p>
          <a:endParaRPr lang="it-IT"/>
        </a:p>
      </dgm:t>
    </dgm:pt>
    <dgm:pt modelId="{C425F346-114A-4A67-8E38-398EBA6D4705}">
      <dgm:prSet phldrT="[Testo]"/>
      <dgm:spPr/>
      <dgm:t>
        <a:bodyPr/>
        <a:lstStyle/>
        <a:p>
          <a:r>
            <a:rPr lang="it-IT" dirty="0"/>
            <a:t>LE PERSONE AL CENTRO</a:t>
          </a:r>
        </a:p>
      </dgm:t>
    </dgm:pt>
    <dgm:pt modelId="{D8AB2238-29F6-4D00-B314-C5F412DC9FF6}" type="parTrans" cxnId="{2D335B7C-6A2B-45C7-9C17-A6D93D884879}">
      <dgm:prSet/>
      <dgm:spPr/>
      <dgm:t>
        <a:bodyPr/>
        <a:lstStyle/>
        <a:p>
          <a:endParaRPr lang="it-IT"/>
        </a:p>
      </dgm:t>
    </dgm:pt>
    <dgm:pt modelId="{44A6E371-5471-4307-A3DD-6CBAE1C99B8A}" type="sibTrans" cxnId="{2D335B7C-6A2B-45C7-9C17-A6D93D884879}">
      <dgm:prSet/>
      <dgm:spPr/>
      <dgm:t>
        <a:bodyPr/>
        <a:lstStyle/>
        <a:p>
          <a:endParaRPr lang="it-IT"/>
        </a:p>
      </dgm:t>
    </dgm:pt>
    <dgm:pt modelId="{B24BEC2F-82EE-44D2-B9F0-41488ED35652}">
      <dgm:prSet phldrT="[Testo]"/>
      <dgm:spPr/>
      <dgm:t>
        <a:bodyPr/>
        <a:lstStyle/>
        <a:p>
          <a:r>
            <a:rPr lang="it-IT" dirty="0"/>
            <a:t>LIBERT</a:t>
          </a:r>
          <a:r>
            <a:rPr lang="it-IT" b="0" i="0" dirty="0"/>
            <a:t>À </a:t>
          </a:r>
          <a:r>
            <a:rPr lang="it-IT" dirty="0"/>
            <a:t>DI SCELTA</a:t>
          </a:r>
        </a:p>
      </dgm:t>
    </dgm:pt>
    <dgm:pt modelId="{36049B96-2EA8-47AD-8EFC-9B0612EA8E91}" type="parTrans" cxnId="{A9DA888A-CB9C-44A9-90BB-98DCBDD106E1}">
      <dgm:prSet/>
      <dgm:spPr/>
      <dgm:t>
        <a:bodyPr/>
        <a:lstStyle/>
        <a:p>
          <a:endParaRPr lang="it-IT"/>
        </a:p>
      </dgm:t>
    </dgm:pt>
    <dgm:pt modelId="{F3CB70B6-2CAD-456B-96BC-EF02EA913D22}" type="sibTrans" cxnId="{A9DA888A-CB9C-44A9-90BB-98DCBDD106E1}">
      <dgm:prSet/>
      <dgm:spPr/>
      <dgm:t>
        <a:bodyPr/>
        <a:lstStyle/>
        <a:p>
          <a:endParaRPr lang="it-IT"/>
        </a:p>
      </dgm:t>
    </dgm:pt>
    <dgm:pt modelId="{F934F56F-3373-49E8-8DD0-A78E78466A66}">
      <dgm:prSet phldrT="[Testo]"/>
      <dgm:spPr/>
      <dgm:t>
        <a:bodyPr/>
        <a:lstStyle/>
        <a:p>
          <a:r>
            <a:rPr lang="it-IT" dirty="0"/>
            <a:t>SICUREZZA E PROTEZIONE</a:t>
          </a:r>
        </a:p>
      </dgm:t>
    </dgm:pt>
    <dgm:pt modelId="{F30935FC-04EF-4382-8018-E0758ECFE87A}" type="parTrans" cxnId="{524C0C65-3542-464A-AB65-CF50CA2FC4BA}">
      <dgm:prSet/>
      <dgm:spPr/>
      <dgm:t>
        <a:bodyPr/>
        <a:lstStyle/>
        <a:p>
          <a:endParaRPr lang="it-IT"/>
        </a:p>
      </dgm:t>
    </dgm:pt>
    <dgm:pt modelId="{F1124854-517A-4BE8-90D7-8E16EC4B750A}" type="sibTrans" cxnId="{524C0C65-3542-464A-AB65-CF50CA2FC4BA}">
      <dgm:prSet/>
      <dgm:spPr/>
      <dgm:t>
        <a:bodyPr/>
        <a:lstStyle/>
        <a:p>
          <a:endParaRPr lang="it-IT"/>
        </a:p>
      </dgm:t>
    </dgm:pt>
    <dgm:pt modelId="{8B77B7DA-B578-46D1-9142-1453C11D781F}">
      <dgm:prSet phldrT="[Testo]"/>
      <dgm:spPr/>
      <dgm:t>
        <a:bodyPr/>
        <a:lstStyle/>
        <a:p>
          <a:r>
            <a:rPr lang="it-IT" dirty="0"/>
            <a:t>SOLIDARIET</a:t>
          </a:r>
          <a:r>
            <a:rPr lang="it-IT" b="0" i="0" dirty="0"/>
            <a:t>À</a:t>
          </a:r>
          <a:r>
            <a:rPr lang="it-IT" dirty="0"/>
            <a:t> E INCLUSIONE</a:t>
          </a:r>
        </a:p>
      </dgm:t>
    </dgm:pt>
    <dgm:pt modelId="{18E7BEAF-88FC-41EF-AEAE-6A2567358F41}" type="parTrans" cxnId="{EC728A20-7F58-4DB0-BC54-3A92C6B702E3}">
      <dgm:prSet/>
      <dgm:spPr/>
      <dgm:t>
        <a:bodyPr/>
        <a:lstStyle/>
        <a:p>
          <a:endParaRPr lang="it-IT"/>
        </a:p>
      </dgm:t>
    </dgm:pt>
    <dgm:pt modelId="{A4BD2AFB-323D-4C12-95F0-8252E3557FC5}" type="sibTrans" cxnId="{EC728A20-7F58-4DB0-BC54-3A92C6B702E3}">
      <dgm:prSet/>
      <dgm:spPr/>
      <dgm:t>
        <a:bodyPr/>
        <a:lstStyle/>
        <a:p>
          <a:endParaRPr lang="it-IT"/>
        </a:p>
      </dgm:t>
    </dgm:pt>
    <dgm:pt modelId="{6AC54A93-72D8-4B05-A79F-D9B5C84BE400}">
      <dgm:prSet phldrT="[Testo]"/>
      <dgm:spPr/>
      <dgm:t>
        <a:bodyPr/>
        <a:lstStyle/>
        <a:p>
          <a:r>
            <a:rPr lang="it-IT" dirty="0"/>
            <a:t>PARTECIPAZIONE</a:t>
          </a:r>
        </a:p>
      </dgm:t>
    </dgm:pt>
    <dgm:pt modelId="{F107CEF8-470D-412A-A444-48802288629A}" type="parTrans" cxnId="{23E295F5-41A6-4713-948C-2C716CDBFA71}">
      <dgm:prSet/>
      <dgm:spPr/>
      <dgm:t>
        <a:bodyPr/>
        <a:lstStyle/>
        <a:p>
          <a:endParaRPr lang="it-IT"/>
        </a:p>
      </dgm:t>
    </dgm:pt>
    <dgm:pt modelId="{1A229E01-95C2-4D17-8B34-A1773FC66DD9}" type="sibTrans" cxnId="{23E295F5-41A6-4713-948C-2C716CDBFA71}">
      <dgm:prSet/>
      <dgm:spPr/>
      <dgm:t>
        <a:bodyPr/>
        <a:lstStyle/>
        <a:p>
          <a:endParaRPr lang="it-IT"/>
        </a:p>
      </dgm:t>
    </dgm:pt>
    <dgm:pt modelId="{F22C50E3-1554-455B-ACF5-868E83DB9DA2}">
      <dgm:prSet phldrT="[Testo]"/>
      <dgm:spPr/>
      <dgm:t>
        <a:bodyPr/>
        <a:lstStyle/>
        <a:p>
          <a:r>
            <a:rPr lang="it-IT" dirty="0"/>
            <a:t>SOSTENIBILIT</a:t>
          </a:r>
          <a:r>
            <a:rPr lang="it-IT" b="0" i="0" dirty="0"/>
            <a:t>À</a:t>
          </a:r>
          <a:endParaRPr lang="it-IT" dirty="0"/>
        </a:p>
      </dgm:t>
    </dgm:pt>
    <dgm:pt modelId="{44BB6630-2A3A-4CF8-8996-52F5D692E8C2}" type="parTrans" cxnId="{E2B6CE22-FABF-4D15-B87D-7CA165758E66}">
      <dgm:prSet/>
      <dgm:spPr/>
      <dgm:t>
        <a:bodyPr/>
        <a:lstStyle/>
        <a:p>
          <a:endParaRPr lang="it-IT"/>
        </a:p>
      </dgm:t>
    </dgm:pt>
    <dgm:pt modelId="{8EEE06B4-AC49-4632-89DD-57DC713308F5}" type="sibTrans" cxnId="{E2B6CE22-FABF-4D15-B87D-7CA165758E66}">
      <dgm:prSet/>
      <dgm:spPr/>
      <dgm:t>
        <a:bodyPr/>
        <a:lstStyle/>
        <a:p>
          <a:endParaRPr lang="it-IT"/>
        </a:p>
      </dgm:t>
    </dgm:pt>
    <dgm:pt modelId="{945ED883-5052-4556-B5F4-A34867BA58C2}" type="pres">
      <dgm:prSet presAssocID="{2BFBDD8F-665F-4AF6-B555-03458DBC6D60}" presName="diagram" presStyleCnt="0">
        <dgm:presLayoutVars>
          <dgm:dir/>
          <dgm:resizeHandles val="exact"/>
        </dgm:presLayoutVars>
      </dgm:prSet>
      <dgm:spPr/>
    </dgm:pt>
    <dgm:pt modelId="{CA914E78-EC10-44E8-A53A-45752DB1BB14}" type="pres">
      <dgm:prSet presAssocID="{C425F346-114A-4A67-8E38-398EBA6D4705}" presName="node" presStyleLbl="node1" presStyleIdx="0" presStyleCnt="6">
        <dgm:presLayoutVars>
          <dgm:bulletEnabled val="1"/>
        </dgm:presLayoutVars>
      </dgm:prSet>
      <dgm:spPr/>
    </dgm:pt>
    <dgm:pt modelId="{A933A9F8-627E-4D7D-8D0B-89383612DBAB}" type="pres">
      <dgm:prSet presAssocID="{44A6E371-5471-4307-A3DD-6CBAE1C99B8A}" presName="sibTrans" presStyleCnt="0"/>
      <dgm:spPr/>
    </dgm:pt>
    <dgm:pt modelId="{583344BA-0C37-48D2-B2F4-217F24BCC01C}" type="pres">
      <dgm:prSet presAssocID="{B24BEC2F-82EE-44D2-B9F0-41488ED35652}" presName="node" presStyleLbl="node1" presStyleIdx="1" presStyleCnt="6">
        <dgm:presLayoutVars>
          <dgm:bulletEnabled val="1"/>
        </dgm:presLayoutVars>
      </dgm:prSet>
      <dgm:spPr/>
    </dgm:pt>
    <dgm:pt modelId="{549E5670-7F3E-43AC-8A10-92ED94990F83}" type="pres">
      <dgm:prSet presAssocID="{F3CB70B6-2CAD-456B-96BC-EF02EA913D22}" presName="sibTrans" presStyleCnt="0"/>
      <dgm:spPr/>
    </dgm:pt>
    <dgm:pt modelId="{A9DE60FB-520F-4A90-AA66-D2EA9B621504}" type="pres">
      <dgm:prSet presAssocID="{F934F56F-3373-49E8-8DD0-A78E78466A66}" presName="node" presStyleLbl="node1" presStyleIdx="2" presStyleCnt="6">
        <dgm:presLayoutVars>
          <dgm:bulletEnabled val="1"/>
        </dgm:presLayoutVars>
      </dgm:prSet>
      <dgm:spPr/>
    </dgm:pt>
    <dgm:pt modelId="{381D1478-FDA9-408C-84B9-90570C179A1E}" type="pres">
      <dgm:prSet presAssocID="{F1124854-517A-4BE8-90D7-8E16EC4B750A}" presName="sibTrans" presStyleCnt="0"/>
      <dgm:spPr/>
    </dgm:pt>
    <dgm:pt modelId="{D89726EF-5B7C-4B05-BF31-5F5CF4CE4804}" type="pres">
      <dgm:prSet presAssocID="{8B77B7DA-B578-46D1-9142-1453C11D781F}" presName="node" presStyleLbl="node1" presStyleIdx="3" presStyleCnt="6">
        <dgm:presLayoutVars>
          <dgm:bulletEnabled val="1"/>
        </dgm:presLayoutVars>
      </dgm:prSet>
      <dgm:spPr/>
    </dgm:pt>
    <dgm:pt modelId="{C7CCD002-E7F6-4EEC-9DD1-381E707F6BED}" type="pres">
      <dgm:prSet presAssocID="{A4BD2AFB-323D-4C12-95F0-8252E3557FC5}" presName="sibTrans" presStyleCnt="0"/>
      <dgm:spPr/>
    </dgm:pt>
    <dgm:pt modelId="{F2267A0A-5B18-4D58-AA51-96CDA37D0247}" type="pres">
      <dgm:prSet presAssocID="{6AC54A93-72D8-4B05-A79F-D9B5C84BE400}" presName="node" presStyleLbl="node1" presStyleIdx="4" presStyleCnt="6">
        <dgm:presLayoutVars>
          <dgm:bulletEnabled val="1"/>
        </dgm:presLayoutVars>
      </dgm:prSet>
      <dgm:spPr/>
    </dgm:pt>
    <dgm:pt modelId="{399AAEFA-73E5-4CA3-86B9-83AFB60F5C67}" type="pres">
      <dgm:prSet presAssocID="{1A229E01-95C2-4D17-8B34-A1773FC66DD9}" presName="sibTrans" presStyleCnt="0"/>
      <dgm:spPr/>
    </dgm:pt>
    <dgm:pt modelId="{091449E6-56CC-4394-8191-910160BD7D55}" type="pres">
      <dgm:prSet presAssocID="{F22C50E3-1554-455B-ACF5-868E83DB9DA2}" presName="node" presStyleLbl="node1" presStyleIdx="5" presStyleCnt="6">
        <dgm:presLayoutVars>
          <dgm:bulletEnabled val="1"/>
        </dgm:presLayoutVars>
      </dgm:prSet>
      <dgm:spPr/>
    </dgm:pt>
  </dgm:ptLst>
  <dgm:cxnLst>
    <dgm:cxn modelId="{EC728A20-7F58-4DB0-BC54-3A92C6B702E3}" srcId="{2BFBDD8F-665F-4AF6-B555-03458DBC6D60}" destId="{8B77B7DA-B578-46D1-9142-1453C11D781F}" srcOrd="3" destOrd="0" parTransId="{18E7BEAF-88FC-41EF-AEAE-6A2567358F41}" sibTransId="{A4BD2AFB-323D-4C12-95F0-8252E3557FC5}"/>
    <dgm:cxn modelId="{E2B6CE22-FABF-4D15-B87D-7CA165758E66}" srcId="{2BFBDD8F-665F-4AF6-B555-03458DBC6D60}" destId="{F22C50E3-1554-455B-ACF5-868E83DB9DA2}" srcOrd="5" destOrd="0" parTransId="{44BB6630-2A3A-4CF8-8996-52F5D692E8C2}" sibTransId="{8EEE06B4-AC49-4632-89DD-57DC713308F5}"/>
    <dgm:cxn modelId="{5C06082C-99A6-46AB-934A-6CA702CA7429}" type="presOf" srcId="{6AC54A93-72D8-4B05-A79F-D9B5C84BE400}" destId="{F2267A0A-5B18-4D58-AA51-96CDA37D0247}" srcOrd="0" destOrd="0" presId="urn:microsoft.com/office/officeart/2005/8/layout/default"/>
    <dgm:cxn modelId="{524C0C65-3542-464A-AB65-CF50CA2FC4BA}" srcId="{2BFBDD8F-665F-4AF6-B555-03458DBC6D60}" destId="{F934F56F-3373-49E8-8DD0-A78E78466A66}" srcOrd="2" destOrd="0" parTransId="{F30935FC-04EF-4382-8018-E0758ECFE87A}" sibTransId="{F1124854-517A-4BE8-90D7-8E16EC4B750A}"/>
    <dgm:cxn modelId="{636FA348-C56B-448A-9FA7-E02F8F941976}" type="presOf" srcId="{8B77B7DA-B578-46D1-9142-1453C11D781F}" destId="{D89726EF-5B7C-4B05-BF31-5F5CF4CE4804}" srcOrd="0" destOrd="0" presId="urn:microsoft.com/office/officeart/2005/8/layout/default"/>
    <dgm:cxn modelId="{F53DAA7A-069E-4FC9-9766-8A6A5B823D0C}" type="presOf" srcId="{C425F346-114A-4A67-8E38-398EBA6D4705}" destId="{CA914E78-EC10-44E8-A53A-45752DB1BB14}" srcOrd="0" destOrd="0" presId="urn:microsoft.com/office/officeart/2005/8/layout/default"/>
    <dgm:cxn modelId="{2D335B7C-6A2B-45C7-9C17-A6D93D884879}" srcId="{2BFBDD8F-665F-4AF6-B555-03458DBC6D60}" destId="{C425F346-114A-4A67-8E38-398EBA6D4705}" srcOrd="0" destOrd="0" parTransId="{D8AB2238-29F6-4D00-B314-C5F412DC9FF6}" sibTransId="{44A6E371-5471-4307-A3DD-6CBAE1C99B8A}"/>
    <dgm:cxn modelId="{A9DA888A-CB9C-44A9-90BB-98DCBDD106E1}" srcId="{2BFBDD8F-665F-4AF6-B555-03458DBC6D60}" destId="{B24BEC2F-82EE-44D2-B9F0-41488ED35652}" srcOrd="1" destOrd="0" parTransId="{36049B96-2EA8-47AD-8EFC-9B0612EA8E91}" sibTransId="{F3CB70B6-2CAD-456B-96BC-EF02EA913D22}"/>
    <dgm:cxn modelId="{E33F1B8B-1D60-4680-ACA3-34DB24DF6E87}" type="presOf" srcId="{F22C50E3-1554-455B-ACF5-868E83DB9DA2}" destId="{091449E6-56CC-4394-8191-910160BD7D55}" srcOrd="0" destOrd="0" presId="urn:microsoft.com/office/officeart/2005/8/layout/default"/>
    <dgm:cxn modelId="{DD0351B0-D672-4503-ADB2-48CDDA2582E8}" type="presOf" srcId="{F934F56F-3373-49E8-8DD0-A78E78466A66}" destId="{A9DE60FB-520F-4A90-AA66-D2EA9B621504}" srcOrd="0" destOrd="0" presId="urn:microsoft.com/office/officeart/2005/8/layout/default"/>
    <dgm:cxn modelId="{186FE4C2-AB49-49D1-895D-91CD7419DC32}" type="presOf" srcId="{2BFBDD8F-665F-4AF6-B555-03458DBC6D60}" destId="{945ED883-5052-4556-B5F4-A34867BA58C2}" srcOrd="0" destOrd="0" presId="urn:microsoft.com/office/officeart/2005/8/layout/default"/>
    <dgm:cxn modelId="{AA7207F3-B173-4DD0-B9F2-4DF034CC19AB}" type="presOf" srcId="{B24BEC2F-82EE-44D2-B9F0-41488ED35652}" destId="{583344BA-0C37-48D2-B2F4-217F24BCC01C}" srcOrd="0" destOrd="0" presId="urn:microsoft.com/office/officeart/2005/8/layout/default"/>
    <dgm:cxn modelId="{23E295F5-41A6-4713-948C-2C716CDBFA71}" srcId="{2BFBDD8F-665F-4AF6-B555-03458DBC6D60}" destId="{6AC54A93-72D8-4B05-A79F-D9B5C84BE400}" srcOrd="4" destOrd="0" parTransId="{F107CEF8-470D-412A-A444-48802288629A}" sibTransId="{1A229E01-95C2-4D17-8B34-A1773FC66DD9}"/>
    <dgm:cxn modelId="{699C4FD6-3505-4564-8A39-E1309416BAD6}" type="presParOf" srcId="{945ED883-5052-4556-B5F4-A34867BA58C2}" destId="{CA914E78-EC10-44E8-A53A-45752DB1BB14}" srcOrd="0" destOrd="0" presId="urn:microsoft.com/office/officeart/2005/8/layout/default"/>
    <dgm:cxn modelId="{CCB54EFA-BD64-42FC-9EF4-83166F9FCA7B}" type="presParOf" srcId="{945ED883-5052-4556-B5F4-A34867BA58C2}" destId="{A933A9F8-627E-4D7D-8D0B-89383612DBAB}" srcOrd="1" destOrd="0" presId="urn:microsoft.com/office/officeart/2005/8/layout/default"/>
    <dgm:cxn modelId="{A3E7851E-A0FA-4088-83FA-268045E17857}" type="presParOf" srcId="{945ED883-5052-4556-B5F4-A34867BA58C2}" destId="{583344BA-0C37-48D2-B2F4-217F24BCC01C}" srcOrd="2" destOrd="0" presId="urn:microsoft.com/office/officeart/2005/8/layout/default"/>
    <dgm:cxn modelId="{58D6E137-E305-43B9-A21B-D287635E327E}" type="presParOf" srcId="{945ED883-5052-4556-B5F4-A34867BA58C2}" destId="{549E5670-7F3E-43AC-8A10-92ED94990F83}" srcOrd="3" destOrd="0" presId="urn:microsoft.com/office/officeart/2005/8/layout/default"/>
    <dgm:cxn modelId="{DF0DC266-EA19-47D4-9AF2-7412C5DF76DB}" type="presParOf" srcId="{945ED883-5052-4556-B5F4-A34867BA58C2}" destId="{A9DE60FB-520F-4A90-AA66-D2EA9B621504}" srcOrd="4" destOrd="0" presId="urn:microsoft.com/office/officeart/2005/8/layout/default"/>
    <dgm:cxn modelId="{7158D4EB-AB76-4CAE-BF03-A9FB104DD396}" type="presParOf" srcId="{945ED883-5052-4556-B5F4-A34867BA58C2}" destId="{381D1478-FDA9-408C-84B9-90570C179A1E}" srcOrd="5" destOrd="0" presId="urn:microsoft.com/office/officeart/2005/8/layout/default"/>
    <dgm:cxn modelId="{DD1901F3-59E8-4F34-85AD-ACB1666F6AD7}" type="presParOf" srcId="{945ED883-5052-4556-B5F4-A34867BA58C2}" destId="{D89726EF-5B7C-4B05-BF31-5F5CF4CE4804}" srcOrd="6" destOrd="0" presId="urn:microsoft.com/office/officeart/2005/8/layout/default"/>
    <dgm:cxn modelId="{23FEBA0C-5953-435F-9F7C-D1E2ABE09D2D}" type="presParOf" srcId="{945ED883-5052-4556-B5F4-A34867BA58C2}" destId="{C7CCD002-E7F6-4EEC-9DD1-381E707F6BED}" srcOrd="7" destOrd="0" presId="urn:microsoft.com/office/officeart/2005/8/layout/default"/>
    <dgm:cxn modelId="{2E2D0868-56C0-42C4-87CC-9DC127F86A11}" type="presParOf" srcId="{945ED883-5052-4556-B5F4-A34867BA58C2}" destId="{F2267A0A-5B18-4D58-AA51-96CDA37D0247}" srcOrd="8" destOrd="0" presId="urn:microsoft.com/office/officeart/2005/8/layout/default"/>
    <dgm:cxn modelId="{DE9D2B86-8133-45F5-9A3F-B00004E962D9}" type="presParOf" srcId="{945ED883-5052-4556-B5F4-A34867BA58C2}" destId="{399AAEFA-73E5-4CA3-86B9-83AFB60F5C67}" srcOrd="9" destOrd="0" presId="urn:microsoft.com/office/officeart/2005/8/layout/default"/>
    <dgm:cxn modelId="{B1498F66-6984-4963-8F0E-E33BF95C16A6}" type="presParOf" srcId="{945ED883-5052-4556-B5F4-A34867BA58C2}" destId="{091449E6-56CC-4394-8191-910160BD7D5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A73A19-C380-4CA3-A254-B6F8F6AB56AB}" type="doc">
      <dgm:prSet loTypeId="urn:microsoft.com/office/officeart/2005/8/layout/target3" loCatId="list" qsTypeId="urn:microsoft.com/office/officeart/2005/8/quickstyle/simple1" qsCatId="simple" csTypeId="urn:microsoft.com/office/officeart/2005/8/colors/accent1_2" csCatId="accent1" phldr="1"/>
      <dgm:spPr/>
      <dgm:t>
        <a:bodyPr/>
        <a:lstStyle/>
        <a:p>
          <a:endParaRPr lang="it-IT"/>
        </a:p>
      </dgm:t>
    </dgm:pt>
    <dgm:pt modelId="{6D6C5C29-977D-419F-9765-F0C452E94EC7}">
      <dgm:prSet phldrT="[Testo]"/>
      <dgm:spPr/>
      <dgm:t>
        <a:bodyPr/>
        <a:lstStyle/>
        <a:p>
          <a:r>
            <a:rPr lang="it-IT" dirty="0"/>
            <a:t>ALL INTERMEDIARIES</a:t>
          </a:r>
        </a:p>
      </dgm:t>
    </dgm:pt>
    <dgm:pt modelId="{17DB9B93-B08B-4EEF-B387-7E0BE75D74C3}" type="parTrans" cxnId="{0476AD83-B0DD-4C29-9A42-06E6240E8DAD}">
      <dgm:prSet/>
      <dgm:spPr/>
      <dgm:t>
        <a:bodyPr/>
        <a:lstStyle/>
        <a:p>
          <a:endParaRPr lang="it-IT"/>
        </a:p>
      </dgm:t>
    </dgm:pt>
    <dgm:pt modelId="{4E4AC150-1D02-46F0-95C4-28E2E83E92C3}" type="sibTrans" cxnId="{0476AD83-B0DD-4C29-9A42-06E6240E8DAD}">
      <dgm:prSet/>
      <dgm:spPr/>
      <dgm:t>
        <a:bodyPr/>
        <a:lstStyle/>
        <a:p>
          <a:endParaRPr lang="it-IT"/>
        </a:p>
      </dgm:t>
    </dgm:pt>
    <dgm:pt modelId="{CD623564-3C6F-4480-8890-D4ED03ECA93C}">
      <dgm:prSet phldrT="[Testo]"/>
      <dgm:spPr/>
      <dgm:t>
        <a:bodyPr/>
        <a:lstStyle/>
        <a:p>
          <a:r>
            <a:rPr lang="it-IT" dirty="0"/>
            <a:t>Fornitori di accesso a Internet</a:t>
          </a:r>
        </a:p>
      </dgm:t>
    </dgm:pt>
    <dgm:pt modelId="{86CC5CF9-1CE5-4A2D-B8AA-3B6ACA04514B}" type="parTrans" cxnId="{F15531FC-D478-4038-971E-2F958EDBEECA}">
      <dgm:prSet/>
      <dgm:spPr/>
      <dgm:t>
        <a:bodyPr/>
        <a:lstStyle/>
        <a:p>
          <a:endParaRPr lang="it-IT"/>
        </a:p>
      </dgm:t>
    </dgm:pt>
    <dgm:pt modelId="{3E52B15B-0FD7-4B77-9E41-D5DFA2801440}" type="sibTrans" cxnId="{F15531FC-D478-4038-971E-2F958EDBEECA}">
      <dgm:prSet/>
      <dgm:spPr/>
      <dgm:t>
        <a:bodyPr/>
        <a:lstStyle/>
        <a:p>
          <a:endParaRPr lang="it-IT"/>
        </a:p>
      </dgm:t>
    </dgm:pt>
    <dgm:pt modelId="{E8057855-5CC1-456B-8D47-A03012D4B4DE}">
      <dgm:prSet phldrT="[Testo]"/>
      <dgm:spPr/>
      <dgm:t>
        <a:bodyPr/>
        <a:lstStyle/>
        <a:p>
          <a:r>
            <a:rPr lang="it-IT" dirty="0"/>
            <a:t>Registri di nomi di dominio</a:t>
          </a:r>
        </a:p>
      </dgm:t>
    </dgm:pt>
    <dgm:pt modelId="{717234DD-A28E-4A48-9C21-0C6F13DE1576}" type="parTrans" cxnId="{0E34B0F7-4412-44EB-B336-4921F9961296}">
      <dgm:prSet/>
      <dgm:spPr/>
      <dgm:t>
        <a:bodyPr/>
        <a:lstStyle/>
        <a:p>
          <a:endParaRPr lang="it-IT"/>
        </a:p>
      </dgm:t>
    </dgm:pt>
    <dgm:pt modelId="{F4072A01-B5AD-47E9-8584-A72BDE9F3E75}" type="sibTrans" cxnId="{0E34B0F7-4412-44EB-B336-4921F9961296}">
      <dgm:prSet/>
      <dgm:spPr/>
      <dgm:t>
        <a:bodyPr/>
        <a:lstStyle/>
        <a:p>
          <a:endParaRPr lang="it-IT"/>
        </a:p>
      </dgm:t>
    </dgm:pt>
    <dgm:pt modelId="{9C64A869-58D1-4C7E-9B10-ECA4532CB2A8}">
      <dgm:prSet phldrT="[Testo]"/>
      <dgm:spPr/>
      <dgm:t>
        <a:bodyPr/>
        <a:lstStyle/>
        <a:p>
          <a:r>
            <a:rPr lang="it-IT" dirty="0"/>
            <a:t>HOSTING SERVICES</a:t>
          </a:r>
        </a:p>
      </dgm:t>
    </dgm:pt>
    <dgm:pt modelId="{4C6B38A9-7B7A-4EB1-AB55-DDA7215649D1}" type="parTrans" cxnId="{CBB816F4-8918-4C3E-925C-99B6ABDF0D07}">
      <dgm:prSet/>
      <dgm:spPr/>
      <dgm:t>
        <a:bodyPr/>
        <a:lstStyle/>
        <a:p>
          <a:endParaRPr lang="it-IT"/>
        </a:p>
      </dgm:t>
    </dgm:pt>
    <dgm:pt modelId="{D465592F-464B-4601-B56C-9D7D952D3E19}" type="sibTrans" cxnId="{CBB816F4-8918-4C3E-925C-99B6ABDF0D07}">
      <dgm:prSet/>
      <dgm:spPr/>
      <dgm:t>
        <a:bodyPr/>
        <a:lstStyle/>
        <a:p>
          <a:endParaRPr lang="it-IT"/>
        </a:p>
      </dgm:t>
    </dgm:pt>
    <dgm:pt modelId="{20F855B0-49D2-4B23-B69D-46F100A3E009}">
      <dgm:prSet phldrT="[Testo]"/>
      <dgm:spPr/>
      <dgm:t>
        <a:bodyPr/>
        <a:lstStyle/>
        <a:p>
          <a:r>
            <a:rPr lang="it-IT" dirty="0"/>
            <a:t>Servizi di cloud</a:t>
          </a:r>
        </a:p>
      </dgm:t>
    </dgm:pt>
    <dgm:pt modelId="{68BE4826-B9FD-4578-9833-943B21B26FCC}" type="parTrans" cxnId="{FBF004CC-F8F1-479B-AC8E-83A14B93023D}">
      <dgm:prSet/>
      <dgm:spPr/>
      <dgm:t>
        <a:bodyPr/>
        <a:lstStyle/>
        <a:p>
          <a:endParaRPr lang="it-IT"/>
        </a:p>
      </dgm:t>
    </dgm:pt>
    <dgm:pt modelId="{054F94D6-06CF-46A1-9195-0814C7072887}" type="sibTrans" cxnId="{FBF004CC-F8F1-479B-AC8E-83A14B93023D}">
      <dgm:prSet/>
      <dgm:spPr/>
      <dgm:t>
        <a:bodyPr/>
        <a:lstStyle/>
        <a:p>
          <a:endParaRPr lang="it-IT"/>
        </a:p>
      </dgm:t>
    </dgm:pt>
    <dgm:pt modelId="{DBDA088F-AC2C-40BE-9A03-B6E9C612CC2F}">
      <dgm:prSet phldrT="[Testo]"/>
      <dgm:spPr/>
      <dgm:t>
        <a:bodyPr/>
        <a:lstStyle/>
        <a:p>
          <a:r>
            <a:rPr lang="it-IT" dirty="0" err="1"/>
            <a:t>Webhosting</a:t>
          </a:r>
          <a:endParaRPr lang="it-IT" dirty="0"/>
        </a:p>
      </dgm:t>
    </dgm:pt>
    <dgm:pt modelId="{57B142EA-14E8-4AD6-8C34-8173E48CCA5B}" type="parTrans" cxnId="{7C9897AF-3E54-4234-98E8-7570B52C9DA5}">
      <dgm:prSet/>
      <dgm:spPr/>
      <dgm:t>
        <a:bodyPr/>
        <a:lstStyle/>
        <a:p>
          <a:endParaRPr lang="it-IT"/>
        </a:p>
      </dgm:t>
    </dgm:pt>
    <dgm:pt modelId="{2BCBDFDA-CBC7-4E96-9EA2-333BB3550C05}" type="sibTrans" cxnId="{7C9897AF-3E54-4234-98E8-7570B52C9DA5}">
      <dgm:prSet/>
      <dgm:spPr/>
      <dgm:t>
        <a:bodyPr/>
        <a:lstStyle/>
        <a:p>
          <a:endParaRPr lang="it-IT"/>
        </a:p>
      </dgm:t>
    </dgm:pt>
    <dgm:pt modelId="{BE67E4B3-D1E0-4CC4-98F7-FEA5F00B66E8}">
      <dgm:prSet phldrT="[Testo]"/>
      <dgm:spPr/>
      <dgm:t>
        <a:bodyPr/>
        <a:lstStyle/>
        <a:p>
          <a:r>
            <a:rPr lang="it-IT" dirty="0"/>
            <a:t>ONLINE PLATFORMS</a:t>
          </a:r>
        </a:p>
      </dgm:t>
    </dgm:pt>
    <dgm:pt modelId="{545721A8-C35C-44F5-90CC-EC42B6575C8A}" type="parTrans" cxnId="{271FE3A6-D5DB-43B0-B6A0-49D103A986EC}">
      <dgm:prSet/>
      <dgm:spPr/>
      <dgm:t>
        <a:bodyPr/>
        <a:lstStyle/>
        <a:p>
          <a:endParaRPr lang="it-IT"/>
        </a:p>
      </dgm:t>
    </dgm:pt>
    <dgm:pt modelId="{220EA21C-9900-4FBF-8095-B219686F611A}" type="sibTrans" cxnId="{271FE3A6-D5DB-43B0-B6A0-49D103A986EC}">
      <dgm:prSet/>
      <dgm:spPr/>
      <dgm:t>
        <a:bodyPr/>
        <a:lstStyle/>
        <a:p>
          <a:endParaRPr lang="it-IT"/>
        </a:p>
      </dgm:t>
    </dgm:pt>
    <dgm:pt modelId="{DECD8C16-3224-486C-A830-2852DE431E58}">
      <dgm:prSet phldrT="[Testo]"/>
      <dgm:spPr/>
      <dgm:t>
        <a:bodyPr/>
        <a:lstStyle/>
        <a:p>
          <a:r>
            <a:rPr lang="it-IT" dirty="0"/>
            <a:t>Online </a:t>
          </a:r>
          <a:r>
            <a:rPr lang="it-IT" dirty="0" err="1"/>
            <a:t>Marketpalces</a:t>
          </a:r>
          <a:endParaRPr lang="it-IT" dirty="0"/>
        </a:p>
      </dgm:t>
    </dgm:pt>
    <dgm:pt modelId="{B82E1FE1-5C5A-4362-90A3-FE4A814F5488}" type="parTrans" cxnId="{1F21EC3C-C2A4-4556-83EE-1B8B275C0042}">
      <dgm:prSet/>
      <dgm:spPr/>
      <dgm:t>
        <a:bodyPr/>
        <a:lstStyle/>
        <a:p>
          <a:endParaRPr lang="it-IT"/>
        </a:p>
      </dgm:t>
    </dgm:pt>
    <dgm:pt modelId="{990F7D1D-6D7C-4C1A-BF76-956C8ABCB096}" type="sibTrans" cxnId="{1F21EC3C-C2A4-4556-83EE-1B8B275C0042}">
      <dgm:prSet/>
      <dgm:spPr/>
      <dgm:t>
        <a:bodyPr/>
        <a:lstStyle/>
        <a:p>
          <a:endParaRPr lang="it-IT"/>
        </a:p>
      </dgm:t>
    </dgm:pt>
    <dgm:pt modelId="{78D66DCF-80D3-4631-8785-AF811B48639F}">
      <dgm:prSet phldrT="[Testo]"/>
      <dgm:spPr/>
      <dgm:t>
        <a:bodyPr/>
        <a:lstStyle/>
        <a:p>
          <a:r>
            <a:rPr lang="it-IT" dirty="0"/>
            <a:t>App Store</a:t>
          </a:r>
        </a:p>
      </dgm:t>
    </dgm:pt>
    <dgm:pt modelId="{E189D629-9788-4044-9D8D-A4FB82FE2405}" type="parTrans" cxnId="{339B449A-4B15-4FC2-9913-3090E3434846}">
      <dgm:prSet/>
      <dgm:spPr/>
      <dgm:t>
        <a:bodyPr/>
        <a:lstStyle/>
        <a:p>
          <a:endParaRPr lang="it-IT"/>
        </a:p>
      </dgm:t>
    </dgm:pt>
    <dgm:pt modelId="{B3C24020-530F-4EAC-8558-8D6F3BA1D15C}" type="sibTrans" cxnId="{339B449A-4B15-4FC2-9913-3090E3434846}">
      <dgm:prSet/>
      <dgm:spPr/>
      <dgm:t>
        <a:bodyPr/>
        <a:lstStyle/>
        <a:p>
          <a:endParaRPr lang="it-IT"/>
        </a:p>
      </dgm:t>
    </dgm:pt>
    <dgm:pt modelId="{06785025-BE3E-4B36-A5C5-B6D8759C0F76}">
      <dgm:prSet phldrT="[Testo]"/>
      <dgm:spPr/>
      <dgm:t>
        <a:bodyPr/>
        <a:lstStyle/>
        <a:p>
          <a:r>
            <a:rPr lang="it-IT" dirty="0"/>
            <a:t>Social Network</a:t>
          </a:r>
        </a:p>
      </dgm:t>
    </dgm:pt>
    <dgm:pt modelId="{38F8BDB9-B0B6-4279-80A7-56975A5FDC96}" type="parTrans" cxnId="{CD2F14E1-53BF-4D90-92B7-9D9695DB6F89}">
      <dgm:prSet/>
      <dgm:spPr/>
      <dgm:t>
        <a:bodyPr/>
        <a:lstStyle/>
        <a:p>
          <a:endParaRPr lang="it-IT"/>
        </a:p>
      </dgm:t>
    </dgm:pt>
    <dgm:pt modelId="{3B0020B6-4005-4CD9-BE6A-5C6BE5E661E3}" type="sibTrans" cxnId="{CD2F14E1-53BF-4D90-92B7-9D9695DB6F89}">
      <dgm:prSet/>
      <dgm:spPr/>
      <dgm:t>
        <a:bodyPr/>
        <a:lstStyle/>
        <a:p>
          <a:endParaRPr lang="it-IT"/>
        </a:p>
      </dgm:t>
    </dgm:pt>
    <dgm:pt modelId="{5D51633E-314A-469D-8C50-74BC487624D0}">
      <dgm:prSet phldrT="[Testo]"/>
      <dgm:spPr/>
      <dgm:t>
        <a:bodyPr/>
        <a:lstStyle/>
        <a:p>
          <a:r>
            <a:rPr lang="it-IT" dirty="0"/>
            <a:t>Ecc..</a:t>
          </a:r>
        </a:p>
      </dgm:t>
    </dgm:pt>
    <dgm:pt modelId="{DF468AA6-974C-480F-85F6-D4275EA0FB0C}" type="parTrans" cxnId="{0464CE67-41D1-4E19-8D4D-02112A88187A}">
      <dgm:prSet/>
      <dgm:spPr/>
      <dgm:t>
        <a:bodyPr/>
        <a:lstStyle/>
        <a:p>
          <a:endParaRPr lang="it-IT"/>
        </a:p>
      </dgm:t>
    </dgm:pt>
    <dgm:pt modelId="{5EE39B70-3C8E-4851-9A5A-B996FBDF216D}" type="sibTrans" cxnId="{0464CE67-41D1-4E19-8D4D-02112A88187A}">
      <dgm:prSet/>
      <dgm:spPr/>
      <dgm:t>
        <a:bodyPr/>
        <a:lstStyle/>
        <a:p>
          <a:endParaRPr lang="it-IT"/>
        </a:p>
      </dgm:t>
    </dgm:pt>
    <dgm:pt modelId="{028842D9-0B5D-4DE1-9539-26E08BA95D90}">
      <dgm:prSet phldrT="[Testo]"/>
      <dgm:spPr/>
      <dgm:t>
        <a:bodyPr/>
        <a:lstStyle/>
        <a:p>
          <a:r>
            <a:rPr lang="it-IT" dirty="0"/>
            <a:t>Ecc..</a:t>
          </a:r>
        </a:p>
      </dgm:t>
    </dgm:pt>
    <dgm:pt modelId="{532CFAEE-5296-4680-9134-F92EA97A8183}" type="parTrans" cxnId="{2BC35B3D-0132-4DA6-942A-C6BA42A11CA5}">
      <dgm:prSet/>
      <dgm:spPr/>
      <dgm:t>
        <a:bodyPr/>
        <a:lstStyle/>
        <a:p>
          <a:endParaRPr lang="it-IT"/>
        </a:p>
      </dgm:t>
    </dgm:pt>
    <dgm:pt modelId="{FB384222-4BA3-4B97-8412-C4DBC2ACBE76}" type="sibTrans" cxnId="{2BC35B3D-0132-4DA6-942A-C6BA42A11CA5}">
      <dgm:prSet/>
      <dgm:spPr/>
      <dgm:t>
        <a:bodyPr/>
        <a:lstStyle/>
        <a:p>
          <a:endParaRPr lang="it-IT"/>
        </a:p>
      </dgm:t>
    </dgm:pt>
    <dgm:pt modelId="{208472CB-A944-4670-BD11-486280C22E5E}">
      <dgm:prSet phldrT="[Testo]"/>
      <dgm:spPr/>
      <dgm:t>
        <a:bodyPr/>
        <a:lstStyle/>
        <a:p>
          <a:r>
            <a:rPr lang="it-IT" dirty="0"/>
            <a:t>Ecc..</a:t>
          </a:r>
        </a:p>
      </dgm:t>
    </dgm:pt>
    <dgm:pt modelId="{A68575C6-89CD-43DD-A37E-8E825A30AF0F}" type="parTrans" cxnId="{E121538F-972D-474E-A236-60F294A0EC3F}">
      <dgm:prSet/>
      <dgm:spPr/>
      <dgm:t>
        <a:bodyPr/>
        <a:lstStyle/>
        <a:p>
          <a:endParaRPr lang="it-IT"/>
        </a:p>
      </dgm:t>
    </dgm:pt>
    <dgm:pt modelId="{AF4757AC-C042-4646-958F-395E7E9046EF}" type="sibTrans" cxnId="{E121538F-972D-474E-A236-60F294A0EC3F}">
      <dgm:prSet/>
      <dgm:spPr/>
      <dgm:t>
        <a:bodyPr/>
        <a:lstStyle/>
        <a:p>
          <a:endParaRPr lang="it-IT"/>
        </a:p>
      </dgm:t>
    </dgm:pt>
    <dgm:pt modelId="{254524B4-E492-4D67-B44D-0731C8BB35B0}">
      <dgm:prSet phldrT="[Testo]"/>
      <dgm:spPr/>
      <dgm:t>
        <a:bodyPr/>
        <a:lstStyle/>
        <a:p>
          <a:r>
            <a:rPr lang="it-IT" dirty="0"/>
            <a:t>VLOP e VLOSE</a:t>
          </a:r>
        </a:p>
      </dgm:t>
    </dgm:pt>
    <dgm:pt modelId="{69DE3901-D40A-468E-9239-31B70A2BAE88}" type="parTrans" cxnId="{A9618CDD-C8E6-4FED-B97F-71CBB46021C9}">
      <dgm:prSet/>
      <dgm:spPr/>
      <dgm:t>
        <a:bodyPr/>
        <a:lstStyle/>
        <a:p>
          <a:endParaRPr lang="it-IT"/>
        </a:p>
      </dgm:t>
    </dgm:pt>
    <dgm:pt modelId="{33C58085-5112-43D8-9402-E5DE0361ABAA}" type="sibTrans" cxnId="{A9618CDD-C8E6-4FED-B97F-71CBB46021C9}">
      <dgm:prSet/>
      <dgm:spPr/>
      <dgm:t>
        <a:bodyPr/>
        <a:lstStyle/>
        <a:p>
          <a:endParaRPr lang="it-IT"/>
        </a:p>
      </dgm:t>
    </dgm:pt>
    <dgm:pt modelId="{EC66C362-C5AE-4A68-AC0E-68A160796864}">
      <dgm:prSet phldrT="[Testo]"/>
      <dgm:spPr/>
      <dgm:t>
        <a:bodyPr/>
        <a:lstStyle/>
        <a:p>
          <a:r>
            <a:rPr lang="it-IT" dirty="0"/>
            <a:t>Piattaforme online e motori di ricerca con più di 45 milioni di utenti nell’UE</a:t>
          </a:r>
        </a:p>
      </dgm:t>
    </dgm:pt>
    <dgm:pt modelId="{5A93AECD-5F69-4B03-B7B4-2859FEEF3532}" type="parTrans" cxnId="{FDCD3BF1-540A-4ABF-838D-126BCF684A1B}">
      <dgm:prSet/>
      <dgm:spPr/>
      <dgm:t>
        <a:bodyPr/>
        <a:lstStyle/>
        <a:p>
          <a:endParaRPr lang="it-IT"/>
        </a:p>
      </dgm:t>
    </dgm:pt>
    <dgm:pt modelId="{A2D82139-FC7F-4374-9E20-7E5BD3841004}" type="sibTrans" cxnId="{FDCD3BF1-540A-4ABF-838D-126BCF684A1B}">
      <dgm:prSet/>
      <dgm:spPr/>
      <dgm:t>
        <a:bodyPr/>
        <a:lstStyle/>
        <a:p>
          <a:endParaRPr lang="it-IT"/>
        </a:p>
      </dgm:t>
    </dgm:pt>
    <dgm:pt modelId="{1C1D9E00-811C-49C4-AEDA-ED08DAAF1F7E}" type="pres">
      <dgm:prSet presAssocID="{45A73A19-C380-4CA3-A254-B6F8F6AB56AB}" presName="Name0" presStyleCnt="0">
        <dgm:presLayoutVars>
          <dgm:chMax val="7"/>
          <dgm:dir/>
          <dgm:animLvl val="lvl"/>
          <dgm:resizeHandles val="exact"/>
        </dgm:presLayoutVars>
      </dgm:prSet>
      <dgm:spPr/>
    </dgm:pt>
    <dgm:pt modelId="{69BD55FA-935F-47BE-ACFF-89F24AC552B1}" type="pres">
      <dgm:prSet presAssocID="{6D6C5C29-977D-419F-9765-F0C452E94EC7}" presName="circle1" presStyleLbl="node1" presStyleIdx="0" presStyleCnt="4"/>
      <dgm:spPr/>
    </dgm:pt>
    <dgm:pt modelId="{AB4F24FB-BB5D-40E5-8928-9C6DFD5BA789}" type="pres">
      <dgm:prSet presAssocID="{6D6C5C29-977D-419F-9765-F0C452E94EC7}" presName="space" presStyleCnt="0"/>
      <dgm:spPr/>
    </dgm:pt>
    <dgm:pt modelId="{F4D6E8FA-4D88-4A9D-B88F-2787A855B1AB}" type="pres">
      <dgm:prSet presAssocID="{6D6C5C29-977D-419F-9765-F0C452E94EC7}" presName="rect1" presStyleLbl="alignAcc1" presStyleIdx="0" presStyleCnt="4"/>
      <dgm:spPr/>
    </dgm:pt>
    <dgm:pt modelId="{998F4523-40C2-4DBD-B8E7-275CB2C4FD33}" type="pres">
      <dgm:prSet presAssocID="{9C64A869-58D1-4C7E-9B10-ECA4532CB2A8}" presName="vertSpace2" presStyleLbl="node1" presStyleIdx="0" presStyleCnt="4"/>
      <dgm:spPr/>
    </dgm:pt>
    <dgm:pt modelId="{DDC8DEB9-9B1F-4AA3-A34E-F2187A8E7453}" type="pres">
      <dgm:prSet presAssocID="{9C64A869-58D1-4C7E-9B10-ECA4532CB2A8}" presName="circle2" presStyleLbl="node1" presStyleIdx="1" presStyleCnt="4"/>
      <dgm:spPr/>
    </dgm:pt>
    <dgm:pt modelId="{0805649A-219C-4230-BE76-F5A364D17388}" type="pres">
      <dgm:prSet presAssocID="{9C64A869-58D1-4C7E-9B10-ECA4532CB2A8}" presName="rect2" presStyleLbl="alignAcc1" presStyleIdx="1" presStyleCnt="4"/>
      <dgm:spPr/>
    </dgm:pt>
    <dgm:pt modelId="{1C500E8B-28F3-4C36-B16B-C8FC354A93B6}" type="pres">
      <dgm:prSet presAssocID="{BE67E4B3-D1E0-4CC4-98F7-FEA5F00B66E8}" presName="vertSpace3" presStyleLbl="node1" presStyleIdx="1" presStyleCnt="4"/>
      <dgm:spPr/>
    </dgm:pt>
    <dgm:pt modelId="{9C736394-A4BC-4F54-B0E3-F3973D5E81BC}" type="pres">
      <dgm:prSet presAssocID="{BE67E4B3-D1E0-4CC4-98F7-FEA5F00B66E8}" presName="circle3" presStyleLbl="node1" presStyleIdx="2" presStyleCnt="4"/>
      <dgm:spPr/>
    </dgm:pt>
    <dgm:pt modelId="{C05E8E13-79E0-40B1-BFC9-6267F23EE5F1}" type="pres">
      <dgm:prSet presAssocID="{BE67E4B3-D1E0-4CC4-98F7-FEA5F00B66E8}" presName="rect3" presStyleLbl="alignAcc1" presStyleIdx="2" presStyleCnt="4"/>
      <dgm:spPr/>
    </dgm:pt>
    <dgm:pt modelId="{515E8AE1-F6F1-4F33-9214-CA8FC7BA9F97}" type="pres">
      <dgm:prSet presAssocID="{254524B4-E492-4D67-B44D-0731C8BB35B0}" presName="vertSpace4" presStyleLbl="node1" presStyleIdx="2" presStyleCnt="4"/>
      <dgm:spPr/>
    </dgm:pt>
    <dgm:pt modelId="{EB774571-AEC9-4383-B158-B1DA595ABB49}" type="pres">
      <dgm:prSet presAssocID="{254524B4-E492-4D67-B44D-0731C8BB35B0}" presName="circle4" presStyleLbl="node1" presStyleIdx="3" presStyleCnt="4"/>
      <dgm:spPr/>
    </dgm:pt>
    <dgm:pt modelId="{65EC5303-1CD5-4990-90E9-77003AB1F8FB}" type="pres">
      <dgm:prSet presAssocID="{254524B4-E492-4D67-B44D-0731C8BB35B0}" presName="rect4" presStyleLbl="alignAcc1" presStyleIdx="3" presStyleCnt="4"/>
      <dgm:spPr/>
    </dgm:pt>
    <dgm:pt modelId="{F1910CB2-F542-4693-971C-4B4B0B48C821}" type="pres">
      <dgm:prSet presAssocID="{6D6C5C29-977D-419F-9765-F0C452E94EC7}" presName="rect1ParTx" presStyleLbl="alignAcc1" presStyleIdx="3" presStyleCnt="4">
        <dgm:presLayoutVars>
          <dgm:chMax val="1"/>
          <dgm:bulletEnabled val="1"/>
        </dgm:presLayoutVars>
      </dgm:prSet>
      <dgm:spPr/>
    </dgm:pt>
    <dgm:pt modelId="{04B8D62C-43FC-489F-9872-EDE3BA468ACA}" type="pres">
      <dgm:prSet presAssocID="{6D6C5C29-977D-419F-9765-F0C452E94EC7}" presName="rect1ChTx" presStyleLbl="alignAcc1" presStyleIdx="3" presStyleCnt="4">
        <dgm:presLayoutVars>
          <dgm:bulletEnabled val="1"/>
        </dgm:presLayoutVars>
      </dgm:prSet>
      <dgm:spPr/>
    </dgm:pt>
    <dgm:pt modelId="{C0B3BB5A-EE17-4378-8BC3-7E7E58C9162D}" type="pres">
      <dgm:prSet presAssocID="{9C64A869-58D1-4C7E-9B10-ECA4532CB2A8}" presName="rect2ParTx" presStyleLbl="alignAcc1" presStyleIdx="3" presStyleCnt="4">
        <dgm:presLayoutVars>
          <dgm:chMax val="1"/>
          <dgm:bulletEnabled val="1"/>
        </dgm:presLayoutVars>
      </dgm:prSet>
      <dgm:spPr/>
    </dgm:pt>
    <dgm:pt modelId="{20EE9446-27B8-433B-8129-112BC43E173B}" type="pres">
      <dgm:prSet presAssocID="{9C64A869-58D1-4C7E-9B10-ECA4532CB2A8}" presName="rect2ChTx" presStyleLbl="alignAcc1" presStyleIdx="3" presStyleCnt="4">
        <dgm:presLayoutVars>
          <dgm:bulletEnabled val="1"/>
        </dgm:presLayoutVars>
      </dgm:prSet>
      <dgm:spPr/>
    </dgm:pt>
    <dgm:pt modelId="{119B51AF-17D2-4C5C-B771-6E00CE2E4D6F}" type="pres">
      <dgm:prSet presAssocID="{BE67E4B3-D1E0-4CC4-98F7-FEA5F00B66E8}" presName="rect3ParTx" presStyleLbl="alignAcc1" presStyleIdx="3" presStyleCnt="4">
        <dgm:presLayoutVars>
          <dgm:chMax val="1"/>
          <dgm:bulletEnabled val="1"/>
        </dgm:presLayoutVars>
      </dgm:prSet>
      <dgm:spPr/>
    </dgm:pt>
    <dgm:pt modelId="{69301D25-C798-4D9D-B23D-8D33C00AE874}" type="pres">
      <dgm:prSet presAssocID="{BE67E4B3-D1E0-4CC4-98F7-FEA5F00B66E8}" presName="rect3ChTx" presStyleLbl="alignAcc1" presStyleIdx="3" presStyleCnt="4">
        <dgm:presLayoutVars>
          <dgm:bulletEnabled val="1"/>
        </dgm:presLayoutVars>
      </dgm:prSet>
      <dgm:spPr/>
    </dgm:pt>
    <dgm:pt modelId="{BE40ADF0-E528-4C25-9186-2FE6CDE20258}" type="pres">
      <dgm:prSet presAssocID="{254524B4-E492-4D67-B44D-0731C8BB35B0}" presName="rect4ParTx" presStyleLbl="alignAcc1" presStyleIdx="3" presStyleCnt="4">
        <dgm:presLayoutVars>
          <dgm:chMax val="1"/>
          <dgm:bulletEnabled val="1"/>
        </dgm:presLayoutVars>
      </dgm:prSet>
      <dgm:spPr/>
    </dgm:pt>
    <dgm:pt modelId="{0E71B482-D639-4418-9FBB-26A6A417FBD9}" type="pres">
      <dgm:prSet presAssocID="{254524B4-E492-4D67-B44D-0731C8BB35B0}" presName="rect4ChTx" presStyleLbl="alignAcc1" presStyleIdx="3" presStyleCnt="4">
        <dgm:presLayoutVars>
          <dgm:bulletEnabled val="1"/>
        </dgm:presLayoutVars>
      </dgm:prSet>
      <dgm:spPr/>
    </dgm:pt>
  </dgm:ptLst>
  <dgm:cxnLst>
    <dgm:cxn modelId="{DA195300-B760-411F-98E1-1AE21AE089C2}" type="presOf" srcId="{6D6C5C29-977D-419F-9765-F0C452E94EC7}" destId="{F1910CB2-F542-4693-971C-4B4B0B48C821}" srcOrd="1" destOrd="0" presId="urn:microsoft.com/office/officeart/2005/8/layout/target3"/>
    <dgm:cxn modelId="{D682A002-CAA9-42AB-A3AB-60600A2E7578}" type="presOf" srcId="{DECD8C16-3224-486C-A830-2852DE431E58}" destId="{69301D25-C798-4D9D-B23D-8D33C00AE874}" srcOrd="0" destOrd="0" presId="urn:microsoft.com/office/officeart/2005/8/layout/target3"/>
    <dgm:cxn modelId="{82754505-8F4C-42BE-885F-AE8E50BD25CA}" type="presOf" srcId="{9C64A869-58D1-4C7E-9B10-ECA4532CB2A8}" destId="{C0B3BB5A-EE17-4378-8BC3-7E7E58C9162D}" srcOrd="1" destOrd="0" presId="urn:microsoft.com/office/officeart/2005/8/layout/target3"/>
    <dgm:cxn modelId="{B4766509-0F64-4323-B8C9-D38985A280B1}" type="presOf" srcId="{06785025-BE3E-4B36-A5C5-B6D8759C0F76}" destId="{69301D25-C798-4D9D-B23D-8D33C00AE874}" srcOrd="0" destOrd="2" presId="urn:microsoft.com/office/officeart/2005/8/layout/target3"/>
    <dgm:cxn modelId="{32CC8709-E608-4656-BA9F-7338AA97C4A5}" type="presOf" srcId="{5D51633E-314A-469D-8C50-74BC487624D0}" destId="{69301D25-C798-4D9D-B23D-8D33C00AE874}" srcOrd="0" destOrd="3" presId="urn:microsoft.com/office/officeart/2005/8/layout/target3"/>
    <dgm:cxn modelId="{8B528E0C-3C40-4EE1-9017-62FD97C199AE}" type="presOf" srcId="{45A73A19-C380-4CA3-A254-B6F8F6AB56AB}" destId="{1C1D9E00-811C-49C4-AEDA-ED08DAAF1F7E}" srcOrd="0" destOrd="0" presId="urn:microsoft.com/office/officeart/2005/8/layout/target3"/>
    <dgm:cxn modelId="{8B00AD3A-BC50-4931-A60C-FD65F034D7CA}" type="presOf" srcId="{CD623564-3C6F-4480-8890-D4ED03ECA93C}" destId="{04B8D62C-43FC-489F-9872-EDE3BA468ACA}" srcOrd="0" destOrd="0" presId="urn:microsoft.com/office/officeart/2005/8/layout/target3"/>
    <dgm:cxn modelId="{1F21EC3C-C2A4-4556-83EE-1B8B275C0042}" srcId="{BE67E4B3-D1E0-4CC4-98F7-FEA5F00B66E8}" destId="{DECD8C16-3224-486C-A830-2852DE431E58}" srcOrd="0" destOrd="0" parTransId="{B82E1FE1-5C5A-4362-90A3-FE4A814F5488}" sibTransId="{990F7D1D-6D7C-4C1A-BF76-956C8ABCB096}"/>
    <dgm:cxn modelId="{2BC35B3D-0132-4DA6-942A-C6BA42A11CA5}" srcId="{9C64A869-58D1-4C7E-9B10-ECA4532CB2A8}" destId="{028842D9-0B5D-4DE1-9539-26E08BA95D90}" srcOrd="2" destOrd="0" parTransId="{532CFAEE-5296-4680-9134-F92EA97A8183}" sibTransId="{FB384222-4BA3-4B97-8412-C4DBC2ACBE76}"/>
    <dgm:cxn modelId="{2CBEA85B-27F1-41EC-BAE7-9784B42CDA30}" type="presOf" srcId="{9C64A869-58D1-4C7E-9B10-ECA4532CB2A8}" destId="{0805649A-219C-4230-BE76-F5A364D17388}" srcOrd="0" destOrd="0" presId="urn:microsoft.com/office/officeart/2005/8/layout/target3"/>
    <dgm:cxn modelId="{813E3C61-411D-41B4-A0E8-62F5DCBD0121}" type="presOf" srcId="{028842D9-0B5D-4DE1-9539-26E08BA95D90}" destId="{20EE9446-27B8-433B-8129-112BC43E173B}" srcOrd="0" destOrd="2" presId="urn:microsoft.com/office/officeart/2005/8/layout/target3"/>
    <dgm:cxn modelId="{D77F8164-9534-4C5C-985D-62F5B88F397C}" type="presOf" srcId="{208472CB-A944-4670-BD11-486280C22E5E}" destId="{04B8D62C-43FC-489F-9872-EDE3BA468ACA}" srcOrd="0" destOrd="2" presId="urn:microsoft.com/office/officeart/2005/8/layout/target3"/>
    <dgm:cxn modelId="{0464CE67-41D1-4E19-8D4D-02112A88187A}" srcId="{BE67E4B3-D1E0-4CC4-98F7-FEA5F00B66E8}" destId="{5D51633E-314A-469D-8C50-74BC487624D0}" srcOrd="3" destOrd="0" parTransId="{DF468AA6-974C-480F-85F6-D4275EA0FB0C}" sibTransId="{5EE39B70-3C8E-4851-9A5A-B996FBDF216D}"/>
    <dgm:cxn modelId="{0476AD83-B0DD-4C29-9A42-06E6240E8DAD}" srcId="{45A73A19-C380-4CA3-A254-B6F8F6AB56AB}" destId="{6D6C5C29-977D-419F-9765-F0C452E94EC7}" srcOrd="0" destOrd="0" parTransId="{17DB9B93-B08B-4EEF-B387-7E0BE75D74C3}" sibTransId="{4E4AC150-1D02-46F0-95C4-28E2E83E92C3}"/>
    <dgm:cxn modelId="{E121538F-972D-474E-A236-60F294A0EC3F}" srcId="{6D6C5C29-977D-419F-9765-F0C452E94EC7}" destId="{208472CB-A944-4670-BD11-486280C22E5E}" srcOrd="2" destOrd="0" parTransId="{A68575C6-89CD-43DD-A37E-8E825A30AF0F}" sibTransId="{AF4757AC-C042-4646-958F-395E7E9046EF}"/>
    <dgm:cxn modelId="{339B449A-4B15-4FC2-9913-3090E3434846}" srcId="{BE67E4B3-D1E0-4CC4-98F7-FEA5F00B66E8}" destId="{78D66DCF-80D3-4631-8785-AF811B48639F}" srcOrd="1" destOrd="0" parTransId="{E189D629-9788-4044-9D8D-A4FB82FE2405}" sibTransId="{B3C24020-530F-4EAC-8558-8D6F3BA1D15C}"/>
    <dgm:cxn modelId="{271FE3A6-D5DB-43B0-B6A0-49D103A986EC}" srcId="{45A73A19-C380-4CA3-A254-B6F8F6AB56AB}" destId="{BE67E4B3-D1E0-4CC4-98F7-FEA5F00B66E8}" srcOrd="2" destOrd="0" parTransId="{545721A8-C35C-44F5-90CC-EC42B6575C8A}" sibTransId="{220EA21C-9900-4FBF-8095-B219686F611A}"/>
    <dgm:cxn modelId="{7C9897AF-3E54-4234-98E8-7570B52C9DA5}" srcId="{9C64A869-58D1-4C7E-9B10-ECA4532CB2A8}" destId="{DBDA088F-AC2C-40BE-9A03-B6E9C612CC2F}" srcOrd="1" destOrd="0" parTransId="{57B142EA-14E8-4AD6-8C34-8173E48CCA5B}" sibTransId="{2BCBDFDA-CBC7-4E96-9EA2-333BB3550C05}"/>
    <dgm:cxn modelId="{650F07B3-2465-4A3C-9719-4B042285920A}" type="presOf" srcId="{20F855B0-49D2-4B23-B69D-46F100A3E009}" destId="{20EE9446-27B8-433B-8129-112BC43E173B}" srcOrd="0" destOrd="0" presId="urn:microsoft.com/office/officeart/2005/8/layout/target3"/>
    <dgm:cxn modelId="{9E3408B3-C901-435C-8123-47462759A2F1}" type="presOf" srcId="{254524B4-E492-4D67-B44D-0731C8BB35B0}" destId="{65EC5303-1CD5-4990-90E9-77003AB1F8FB}" srcOrd="0" destOrd="0" presId="urn:microsoft.com/office/officeart/2005/8/layout/target3"/>
    <dgm:cxn modelId="{64A6DEB9-1CE9-41D9-974E-AD467727EDF5}" type="presOf" srcId="{BE67E4B3-D1E0-4CC4-98F7-FEA5F00B66E8}" destId="{C05E8E13-79E0-40B1-BFC9-6267F23EE5F1}" srcOrd="0" destOrd="0" presId="urn:microsoft.com/office/officeart/2005/8/layout/target3"/>
    <dgm:cxn modelId="{0BC1A2C8-FEDA-46D8-83E7-C170BBE965B7}" type="presOf" srcId="{254524B4-E492-4D67-B44D-0731C8BB35B0}" destId="{BE40ADF0-E528-4C25-9186-2FE6CDE20258}" srcOrd="1" destOrd="0" presId="urn:microsoft.com/office/officeart/2005/8/layout/target3"/>
    <dgm:cxn modelId="{532D4CC9-A643-4243-BAA4-0489CB4B344C}" type="presOf" srcId="{6D6C5C29-977D-419F-9765-F0C452E94EC7}" destId="{F4D6E8FA-4D88-4A9D-B88F-2787A855B1AB}" srcOrd="0" destOrd="0" presId="urn:microsoft.com/office/officeart/2005/8/layout/target3"/>
    <dgm:cxn modelId="{0C7F9ACA-2423-4611-9CE9-4A48E88B4388}" type="presOf" srcId="{EC66C362-C5AE-4A68-AC0E-68A160796864}" destId="{0E71B482-D639-4418-9FBB-26A6A417FBD9}" srcOrd="0" destOrd="0" presId="urn:microsoft.com/office/officeart/2005/8/layout/target3"/>
    <dgm:cxn modelId="{FBF004CC-F8F1-479B-AC8E-83A14B93023D}" srcId="{9C64A869-58D1-4C7E-9B10-ECA4532CB2A8}" destId="{20F855B0-49D2-4B23-B69D-46F100A3E009}" srcOrd="0" destOrd="0" parTransId="{68BE4826-B9FD-4578-9833-943B21B26FCC}" sibTransId="{054F94D6-06CF-46A1-9195-0814C7072887}"/>
    <dgm:cxn modelId="{0B5622DA-E10C-42E9-BB1A-3D723453E6C5}" type="presOf" srcId="{78D66DCF-80D3-4631-8785-AF811B48639F}" destId="{69301D25-C798-4D9D-B23D-8D33C00AE874}" srcOrd="0" destOrd="1" presId="urn:microsoft.com/office/officeart/2005/8/layout/target3"/>
    <dgm:cxn modelId="{A9618CDD-C8E6-4FED-B97F-71CBB46021C9}" srcId="{45A73A19-C380-4CA3-A254-B6F8F6AB56AB}" destId="{254524B4-E492-4D67-B44D-0731C8BB35B0}" srcOrd="3" destOrd="0" parTransId="{69DE3901-D40A-468E-9239-31B70A2BAE88}" sibTransId="{33C58085-5112-43D8-9402-E5DE0361ABAA}"/>
    <dgm:cxn modelId="{CD2F14E1-53BF-4D90-92B7-9D9695DB6F89}" srcId="{BE67E4B3-D1E0-4CC4-98F7-FEA5F00B66E8}" destId="{06785025-BE3E-4B36-A5C5-B6D8759C0F76}" srcOrd="2" destOrd="0" parTransId="{38F8BDB9-B0B6-4279-80A7-56975A5FDC96}" sibTransId="{3B0020B6-4005-4CD9-BE6A-5C6BE5E661E3}"/>
    <dgm:cxn modelId="{FDCD3BF1-540A-4ABF-838D-126BCF684A1B}" srcId="{254524B4-E492-4D67-B44D-0731C8BB35B0}" destId="{EC66C362-C5AE-4A68-AC0E-68A160796864}" srcOrd="0" destOrd="0" parTransId="{5A93AECD-5F69-4B03-B7B4-2859FEEF3532}" sibTransId="{A2D82139-FC7F-4374-9E20-7E5BD3841004}"/>
    <dgm:cxn modelId="{CBB816F4-8918-4C3E-925C-99B6ABDF0D07}" srcId="{45A73A19-C380-4CA3-A254-B6F8F6AB56AB}" destId="{9C64A869-58D1-4C7E-9B10-ECA4532CB2A8}" srcOrd="1" destOrd="0" parTransId="{4C6B38A9-7B7A-4EB1-AB55-DDA7215649D1}" sibTransId="{D465592F-464B-4601-B56C-9D7D952D3E19}"/>
    <dgm:cxn modelId="{276F5CF7-6FAB-4D17-89AF-0D30D1248B67}" type="presOf" srcId="{DBDA088F-AC2C-40BE-9A03-B6E9C612CC2F}" destId="{20EE9446-27B8-433B-8129-112BC43E173B}" srcOrd="0" destOrd="1" presId="urn:microsoft.com/office/officeart/2005/8/layout/target3"/>
    <dgm:cxn modelId="{0E34B0F7-4412-44EB-B336-4921F9961296}" srcId="{6D6C5C29-977D-419F-9765-F0C452E94EC7}" destId="{E8057855-5CC1-456B-8D47-A03012D4B4DE}" srcOrd="1" destOrd="0" parTransId="{717234DD-A28E-4A48-9C21-0C6F13DE1576}" sibTransId="{F4072A01-B5AD-47E9-8584-A72BDE9F3E75}"/>
    <dgm:cxn modelId="{6FEA19FC-6FB9-48A0-B133-E68CB525B1AD}" type="presOf" srcId="{BE67E4B3-D1E0-4CC4-98F7-FEA5F00B66E8}" destId="{119B51AF-17D2-4C5C-B771-6E00CE2E4D6F}" srcOrd="1" destOrd="0" presId="urn:microsoft.com/office/officeart/2005/8/layout/target3"/>
    <dgm:cxn modelId="{F15531FC-D478-4038-971E-2F958EDBEECA}" srcId="{6D6C5C29-977D-419F-9765-F0C452E94EC7}" destId="{CD623564-3C6F-4480-8890-D4ED03ECA93C}" srcOrd="0" destOrd="0" parTransId="{86CC5CF9-1CE5-4A2D-B8AA-3B6ACA04514B}" sibTransId="{3E52B15B-0FD7-4B77-9E41-D5DFA2801440}"/>
    <dgm:cxn modelId="{F66A4DFD-65D4-4D25-A31A-24FA1D67CB25}" type="presOf" srcId="{E8057855-5CC1-456B-8D47-A03012D4B4DE}" destId="{04B8D62C-43FC-489F-9872-EDE3BA468ACA}" srcOrd="0" destOrd="1" presId="urn:microsoft.com/office/officeart/2005/8/layout/target3"/>
    <dgm:cxn modelId="{7F2C1477-B5AE-4455-94F3-FBBF2376A1F8}" type="presParOf" srcId="{1C1D9E00-811C-49C4-AEDA-ED08DAAF1F7E}" destId="{69BD55FA-935F-47BE-ACFF-89F24AC552B1}" srcOrd="0" destOrd="0" presId="urn:microsoft.com/office/officeart/2005/8/layout/target3"/>
    <dgm:cxn modelId="{1346BF6B-7035-4CFD-9FAA-D463AD935C6A}" type="presParOf" srcId="{1C1D9E00-811C-49C4-AEDA-ED08DAAF1F7E}" destId="{AB4F24FB-BB5D-40E5-8928-9C6DFD5BA789}" srcOrd="1" destOrd="0" presId="urn:microsoft.com/office/officeart/2005/8/layout/target3"/>
    <dgm:cxn modelId="{7EE0F866-8FA0-45AF-96BC-452FB02CBD49}" type="presParOf" srcId="{1C1D9E00-811C-49C4-AEDA-ED08DAAF1F7E}" destId="{F4D6E8FA-4D88-4A9D-B88F-2787A855B1AB}" srcOrd="2" destOrd="0" presId="urn:microsoft.com/office/officeart/2005/8/layout/target3"/>
    <dgm:cxn modelId="{15F116EE-A89A-427F-B0A5-F81639CC8DFA}" type="presParOf" srcId="{1C1D9E00-811C-49C4-AEDA-ED08DAAF1F7E}" destId="{998F4523-40C2-4DBD-B8E7-275CB2C4FD33}" srcOrd="3" destOrd="0" presId="urn:microsoft.com/office/officeart/2005/8/layout/target3"/>
    <dgm:cxn modelId="{72EDBDB7-A630-4CCE-882E-E733C4592DEF}" type="presParOf" srcId="{1C1D9E00-811C-49C4-AEDA-ED08DAAF1F7E}" destId="{DDC8DEB9-9B1F-4AA3-A34E-F2187A8E7453}" srcOrd="4" destOrd="0" presId="urn:microsoft.com/office/officeart/2005/8/layout/target3"/>
    <dgm:cxn modelId="{AF38A994-6ABF-4B1F-B014-6E557188FE48}" type="presParOf" srcId="{1C1D9E00-811C-49C4-AEDA-ED08DAAF1F7E}" destId="{0805649A-219C-4230-BE76-F5A364D17388}" srcOrd="5" destOrd="0" presId="urn:microsoft.com/office/officeart/2005/8/layout/target3"/>
    <dgm:cxn modelId="{F26BB092-2451-4A5A-8B13-282802BB7D64}" type="presParOf" srcId="{1C1D9E00-811C-49C4-AEDA-ED08DAAF1F7E}" destId="{1C500E8B-28F3-4C36-B16B-C8FC354A93B6}" srcOrd="6" destOrd="0" presId="urn:microsoft.com/office/officeart/2005/8/layout/target3"/>
    <dgm:cxn modelId="{EE54F2F0-4535-40F5-978A-165862A9FBBF}" type="presParOf" srcId="{1C1D9E00-811C-49C4-AEDA-ED08DAAF1F7E}" destId="{9C736394-A4BC-4F54-B0E3-F3973D5E81BC}" srcOrd="7" destOrd="0" presId="urn:microsoft.com/office/officeart/2005/8/layout/target3"/>
    <dgm:cxn modelId="{459F8F50-4E6C-41B3-87EA-86BB6C90F6D5}" type="presParOf" srcId="{1C1D9E00-811C-49C4-AEDA-ED08DAAF1F7E}" destId="{C05E8E13-79E0-40B1-BFC9-6267F23EE5F1}" srcOrd="8" destOrd="0" presId="urn:microsoft.com/office/officeart/2005/8/layout/target3"/>
    <dgm:cxn modelId="{AE75E389-8E74-45A4-9EEA-23FF7A3CE8A9}" type="presParOf" srcId="{1C1D9E00-811C-49C4-AEDA-ED08DAAF1F7E}" destId="{515E8AE1-F6F1-4F33-9214-CA8FC7BA9F97}" srcOrd="9" destOrd="0" presId="urn:microsoft.com/office/officeart/2005/8/layout/target3"/>
    <dgm:cxn modelId="{C418B00D-67A6-4DC3-8C40-7CA26DFA6606}" type="presParOf" srcId="{1C1D9E00-811C-49C4-AEDA-ED08DAAF1F7E}" destId="{EB774571-AEC9-4383-B158-B1DA595ABB49}" srcOrd="10" destOrd="0" presId="urn:microsoft.com/office/officeart/2005/8/layout/target3"/>
    <dgm:cxn modelId="{859CB542-D73C-4E0C-8C76-0C5F5D1FCC1C}" type="presParOf" srcId="{1C1D9E00-811C-49C4-AEDA-ED08DAAF1F7E}" destId="{65EC5303-1CD5-4990-90E9-77003AB1F8FB}" srcOrd="11" destOrd="0" presId="urn:microsoft.com/office/officeart/2005/8/layout/target3"/>
    <dgm:cxn modelId="{27E7882B-16C9-4883-AF42-1D30A66DE343}" type="presParOf" srcId="{1C1D9E00-811C-49C4-AEDA-ED08DAAF1F7E}" destId="{F1910CB2-F542-4693-971C-4B4B0B48C821}" srcOrd="12" destOrd="0" presId="urn:microsoft.com/office/officeart/2005/8/layout/target3"/>
    <dgm:cxn modelId="{846A89FD-0A5C-44BB-A45D-ACB0ED6C5748}" type="presParOf" srcId="{1C1D9E00-811C-49C4-AEDA-ED08DAAF1F7E}" destId="{04B8D62C-43FC-489F-9872-EDE3BA468ACA}" srcOrd="13" destOrd="0" presId="urn:microsoft.com/office/officeart/2005/8/layout/target3"/>
    <dgm:cxn modelId="{AADEF828-9EAC-42F1-B21E-DC2D9918A2E4}" type="presParOf" srcId="{1C1D9E00-811C-49C4-AEDA-ED08DAAF1F7E}" destId="{C0B3BB5A-EE17-4378-8BC3-7E7E58C9162D}" srcOrd="14" destOrd="0" presId="urn:microsoft.com/office/officeart/2005/8/layout/target3"/>
    <dgm:cxn modelId="{A8B1AF2B-D16B-4780-BA36-B75AE4E3764B}" type="presParOf" srcId="{1C1D9E00-811C-49C4-AEDA-ED08DAAF1F7E}" destId="{20EE9446-27B8-433B-8129-112BC43E173B}" srcOrd="15" destOrd="0" presId="urn:microsoft.com/office/officeart/2005/8/layout/target3"/>
    <dgm:cxn modelId="{D6887459-82D8-4D12-9003-B26B3EAD8ACC}" type="presParOf" srcId="{1C1D9E00-811C-49C4-AEDA-ED08DAAF1F7E}" destId="{119B51AF-17D2-4C5C-B771-6E00CE2E4D6F}" srcOrd="16" destOrd="0" presId="urn:microsoft.com/office/officeart/2005/8/layout/target3"/>
    <dgm:cxn modelId="{FEB30DE2-C7C4-4EF8-B73D-AE50E4B1E035}" type="presParOf" srcId="{1C1D9E00-811C-49C4-AEDA-ED08DAAF1F7E}" destId="{69301D25-C798-4D9D-B23D-8D33C00AE874}" srcOrd="17" destOrd="0" presId="urn:microsoft.com/office/officeart/2005/8/layout/target3"/>
    <dgm:cxn modelId="{63D266FD-74ED-4A7B-A436-0B26E24D80C5}" type="presParOf" srcId="{1C1D9E00-811C-49C4-AEDA-ED08DAAF1F7E}" destId="{BE40ADF0-E528-4C25-9186-2FE6CDE20258}" srcOrd="18" destOrd="0" presId="urn:microsoft.com/office/officeart/2005/8/layout/target3"/>
    <dgm:cxn modelId="{DA0EC886-82F0-41AB-8D46-1667DB9CDBBB}" type="presParOf" srcId="{1C1D9E00-811C-49C4-AEDA-ED08DAAF1F7E}" destId="{0E71B482-D639-4418-9FBB-26A6A417FBD9}" srcOrd="19"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914E78-EC10-44E8-A53A-45752DB1BB14}">
      <dsp:nvSpPr>
        <dsp:cNvPr id="0" name=""/>
        <dsp:cNvSpPr/>
      </dsp:nvSpPr>
      <dsp:spPr>
        <a:xfrm>
          <a:off x="356787" y="1960"/>
          <a:ext cx="1613497" cy="96809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LE PERSONE AL CENTRO</a:t>
          </a:r>
        </a:p>
      </dsp:txBody>
      <dsp:txXfrm>
        <a:off x="356787" y="1960"/>
        <a:ext cx="1613497" cy="968098"/>
      </dsp:txXfrm>
    </dsp:sp>
    <dsp:sp modelId="{583344BA-0C37-48D2-B2F4-217F24BCC01C}">
      <dsp:nvSpPr>
        <dsp:cNvPr id="0" name=""/>
        <dsp:cNvSpPr/>
      </dsp:nvSpPr>
      <dsp:spPr>
        <a:xfrm>
          <a:off x="356787" y="1131408"/>
          <a:ext cx="1613497" cy="96809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LIBERT</a:t>
          </a:r>
          <a:r>
            <a:rPr lang="it-IT" sz="1500" b="0" i="0" kern="1200" dirty="0"/>
            <a:t>À </a:t>
          </a:r>
          <a:r>
            <a:rPr lang="it-IT" sz="1500" kern="1200" dirty="0"/>
            <a:t>DI SCELTA</a:t>
          </a:r>
        </a:p>
      </dsp:txBody>
      <dsp:txXfrm>
        <a:off x="356787" y="1131408"/>
        <a:ext cx="1613497" cy="968098"/>
      </dsp:txXfrm>
    </dsp:sp>
    <dsp:sp modelId="{A9DE60FB-520F-4A90-AA66-D2EA9B621504}">
      <dsp:nvSpPr>
        <dsp:cNvPr id="0" name=""/>
        <dsp:cNvSpPr/>
      </dsp:nvSpPr>
      <dsp:spPr>
        <a:xfrm>
          <a:off x="356787" y="2260857"/>
          <a:ext cx="1613497" cy="96809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SICUREZZA E PROTEZIONE</a:t>
          </a:r>
        </a:p>
      </dsp:txBody>
      <dsp:txXfrm>
        <a:off x="356787" y="2260857"/>
        <a:ext cx="1613497" cy="968098"/>
      </dsp:txXfrm>
    </dsp:sp>
    <dsp:sp modelId="{D89726EF-5B7C-4B05-BF31-5F5CF4CE4804}">
      <dsp:nvSpPr>
        <dsp:cNvPr id="0" name=""/>
        <dsp:cNvSpPr/>
      </dsp:nvSpPr>
      <dsp:spPr>
        <a:xfrm>
          <a:off x="356787" y="3390305"/>
          <a:ext cx="1613497" cy="96809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SOLIDARIET</a:t>
          </a:r>
          <a:r>
            <a:rPr lang="it-IT" sz="1500" b="0" i="0" kern="1200" dirty="0"/>
            <a:t>À</a:t>
          </a:r>
          <a:r>
            <a:rPr lang="it-IT" sz="1500" kern="1200" dirty="0"/>
            <a:t> E INCLUSIONE</a:t>
          </a:r>
        </a:p>
      </dsp:txBody>
      <dsp:txXfrm>
        <a:off x="356787" y="3390305"/>
        <a:ext cx="1613497" cy="968098"/>
      </dsp:txXfrm>
    </dsp:sp>
    <dsp:sp modelId="{F2267A0A-5B18-4D58-AA51-96CDA37D0247}">
      <dsp:nvSpPr>
        <dsp:cNvPr id="0" name=""/>
        <dsp:cNvSpPr/>
      </dsp:nvSpPr>
      <dsp:spPr>
        <a:xfrm>
          <a:off x="356787" y="4519754"/>
          <a:ext cx="1613497" cy="96809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PARTECIPAZIONE</a:t>
          </a:r>
        </a:p>
      </dsp:txBody>
      <dsp:txXfrm>
        <a:off x="356787" y="4519754"/>
        <a:ext cx="1613497" cy="968098"/>
      </dsp:txXfrm>
    </dsp:sp>
    <dsp:sp modelId="{091449E6-56CC-4394-8191-910160BD7D55}">
      <dsp:nvSpPr>
        <dsp:cNvPr id="0" name=""/>
        <dsp:cNvSpPr/>
      </dsp:nvSpPr>
      <dsp:spPr>
        <a:xfrm>
          <a:off x="356787" y="5649202"/>
          <a:ext cx="1613497" cy="96809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SOSTENIBILIT</a:t>
          </a:r>
          <a:r>
            <a:rPr lang="it-IT" sz="1500" b="0" i="0" kern="1200" dirty="0"/>
            <a:t>À</a:t>
          </a:r>
          <a:endParaRPr lang="it-IT" sz="1500" kern="1200" dirty="0"/>
        </a:p>
      </dsp:txBody>
      <dsp:txXfrm>
        <a:off x="356787" y="5649202"/>
        <a:ext cx="1613497" cy="9680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BD55FA-935F-47BE-ACFF-89F24AC552B1}">
      <dsp:nvSpPr>
        <dsp:cNvPr id="0" name=""/>
        <dsp:cNvSpPr/>
      </dsp:nvSpPr>
      <dsp:spPr>
        <a:xfrm>
          <a:off x="0" y="116989"/>
          <a:ext cx="4606962" cy="4606962"/>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D6E8FA-4D88-4A9D-B88F-2787A855B1AB}">
      <dsp:nvSpPr>
        <dsp:cNvPr id="0" name=""/>
        <dsp:cNvSpPr/>
      </dsp:nvSpPr>
      <dsp:spPr>
        <a:xfrm>
          <a:off x="2303481" y="116989"/>
          <a:ext cx="5374788" cy="460696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IT" sz="2600" kern="1200" dirty="0"/>
            <a:t>ALL INTERMEDIARIES</a:t>
          </a:r>
        </a:p>
      </dsp:txBody>
      <dsp:txXfrm>
        <a:off x="2303481" y="116989"/>
        <a:ext cx="2687394" cy="978979"/>
      </dsp:txXfrm>
    </dsp:sp>
    <dsp:sp modelId="{DDC8DEB9-9B1F-4AA3-A34E-F2187A8E7453}">
      <dsp:nvSpPr>
        <dsp:cNvPr id="0" name=""/>
        <dsp:cNvSpPr/>
      </dsp:nvSpPr>
      <dsp:spPr>
        <a:xfrm>
          <a:off x="604663" y="1095968"/>
          <a:ext cx="3397634" cy="3397634"/>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05649A-219C-4230-BE76-F5A364D17388}">
      <dsp:nvSpPr>
        <dsp:cNvPr id="0" name=""/>
        <dsp:cNvSpPr/>
      </dsp:nvSpPr>
      <dsp:spPr>
        <a:xfrm>
          <a:off x="2303481" y="1095968"/>
          <a:ext cx="5374788" cy="339763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IT" sz="2600" kern="1200" dirty="0"/>
            <a:t>HOSTING SERVICES</a:t>
          </a:r>
        </a:p>
      </dsp:txBody>
      <dsp:txXfrm>
        <a:off x="2303481" y="1095968"/>
        <a:ext cx="2687394" cy="978979"/>
      </dsp:txXfrm>
    </dsp:sp>
    <dsp:sp modelId="{9C736394-A4BC-4F54-B0E3-F3973D5E81BC}">
      <dsp:nvSpPr>
        <dsp:cNvPr id="0" name=""/>
        <dsp:cNvSpPr/>
      </dsp:nvSpPr>
      <dsp:spPr>
        <a:xfrm>
          <a:off x="1209327" y="2074948"/>
          <a:ext cx="2188306" cy="2188306"/>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5E8E13-79E0-40B1-BFC9-6267F23EE5F1}">
      <dsp:nvSpPr>
        <dsp:cNvPr id="0" name=""/>
        <dsp:cNvSpPr/>
      </dsp:nvSpPr>
      <dsp:spPr>
        <a:xfrm>
          <a:off x="2303481" y="2074948"/>
          <a:ext cx="5374788" cy="2188306"/>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IT" sz="2600" kern="1200" dirty="0"/>
            <a:t>ONLINE PLATFORMS</a:t>
          </a:r>
        </a:p>
      </dsp:txBody>
      <dsp:txXfrm>
        <a:off x="2303481" y="2074948"/>
        <a:ext cx="2687394" cy="978979"/>
      </dsp:txXfrm>
    </dsp:sp>
    <dsp:sp modelId="{EB774571-AEC9-4383-B158-B1DA595ABB49}">
      <dsp:nvSpPr>
        <dsp:cNvPr id="0" name=""/>
        <dsp:cNvSpPr/>
      </dsp:nvSpPr>
      <dsp:spPr>
        <a:xfrm>
          <a:off x="1813991" y="3053927"/>
          <a:ext cx="978979" cy="97897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EC5303-1CD5-4990-90E9-77003AB1F8FB}">
      <dsp:nvSpPr>
        <dsp:cNvPr id="0" name=""/>
        <dsp:cNvSpPr/>
      </dsp:nvSpPr>
      <dsp:spPr>
        <a:xfrm>
          <a:off x="2303481" y="3053927"/>
          <a:ext cx="5374788" cy="97897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it-IT" sz="2600" kern="1200" dirty="0"/>
            <a:t>VLOP e VLOSE</a:t>
          </a:r>
        </a:p>
      </dsp:txBody>
      <dsp:txXfrm>
        <a:off x="2303481" y="3053927"/>
        <a:ext cx="2687394" cy="978979"/>
      </dsp:txXfrm>
    </dsp:sp>
    <dsp:sp modelId="{04B8D62C-43FC-489F-9872-EDE3BA468ACA}">
      <dsp:nvSpPr>
        <dsp:cNvPr id="0" name=""/>
        <dsp:cNvSpPr/>
      </dsp:nvSpPr>
      <dsp:spPr>
        <a:xfrm>
          <a:off x="4990875" y="116989"/>
          <a:ext cx="2687394" cy="97897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it-IT" sz="1300" kern="1200" dirty="0"/>
            <a:t>Fornitori di accesso a Internet</a:t>
          </a:r>
        </a:p>
        <a:p>
          <a:pPr marL="114300" lvl="1" indent="-114300" algn="l" defTabSz="577850">
            <a:lnSpc>
              <a:spcPct val="90000"/>
            </a:lnSpc>
            <a:spcBef>
              <a:spcPct val="0"/>
            </a:spcBef>
            <a:spcAft>
              <a:spcPct val="15000"/>
            </a:spcAft>
            <a:buChar char="•"/>
          </a:pPr>
          <a:r>
            <a:rPr lang="it-IT" sz="1300" kern="1200" dirty="0"/>
            <a:t>Registri di nomi di dominio</a:t>
          </a:r>
        </a:p>
        <a:p>
          <a:pPr marL="114300" lvl="1" indent="-114300" algn="l" defTabSz="577850">
            <a:lnSpc>
              <a:spcPct val="90000"/>
            </a:lnSpc>
            <a:spcBef>
              <a:spcPct val="0"/>
            </a:spcBef>
            <a:spcAft>
              <a:spcPct val="15000"/>
            </a:spcAft>
            <a:buChar char="•"/>
          </a:pPr>
          <a:r>
            <a:rPr lang="it-IT" sz="1300" kern="1200" dirty="0"/>
            <a:t>Ecc..</a:t>
          </a:r>
        </a:p>
      </dsp:txBody>
      <dsp:txXfrm>
        <a:off x="4990875" y="116989"/>
        <a:ext cx="2687394" cy="978979"/>
      </dsp:txXfrm>
    </dsp:sp>
    <dsp:sp modelId="{20EE9446-27B8-433B-8129-112BC43E173B}">
      <dsp:nvSpPr>
        <dsp:cNvPr id="0" name=""/>
        <dsp:cNvSpPr/>
      </dsp:nvSpPr>
      <dsp:spPr>
        <a:xfrm>
          <a:off x="4990875" y="1095968"/>
          <a:ext cx="2687394" cy="97897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it-IT" sz="1300" kern="1200" dirty="0"/>
            <a:t>Servizi di cloud</a:t>
          </a:r>
        </a:p>
        <a:p>
          <a:pPr marL="114300" lvl="1" indent="-114300" algn="l" defTabSz="577850">
            <a:lnSpc>
              <a:spcPct val="90000"/>
            </a:lnSpc>
            <a:spcBef>
              <a:spcPct val="0"/>
            </a:spcBef>
            <a:spcAft>
              <a:spcPct val="15000"/>
            </a:spcAft>
            <a:buChar char="•"/>
          </a:pPr>
          <a:r>
            <a:rPr lang="it-IT" sz="1300" kern="1200" dirty="0" err="1"/>
            <a:t>Webhosting</a:t>
          </a:r>
          <a:endParaRPr lang="it-IT" sz="1300" kern="1200" dirty="0"/>
        </a:p>
        <a:p>
          <a:pPr marL="114300" lvl="1" indent="-114300" algn="l" defTabSz="577850">
            <a:lnSpc>
              <a:spcPct val="90000"/>
            </a:lnSpc>
            <a:spcBef>
              <a:spcPct val="0"/>
            </a:spcBef>
            <a:spcAft>
              <a:spcPct val="15000"/>
            </a:spcAft>
            <a:buChar char="•"/>
          </a:pPr>
          <a:r>
            <a:rPr lang="it-IT" sz="1300" kern="1200" dirty="0"/>
            <a:t>Ecc..</a:t>
          </a:r>
        </a:p>
      </dsp:txBody>
      <dsp:txXfrm>
        <a:off x="4990875" y="1095968"/>
        <a:ext cx="2687394" cy="978979"/>
      </dsp:txXfrm>
    </dsp:sp>
    <dsp:sp modelId="{69301D25-C798-4D9D-B23D-8D33C00AE874}">
      <dsp:nvSpPr>
        <dsp:cNvPr id="0" name=""/>
        <dsp:cNvSpPr/>
      </dsp:nvSpPr>
      <dsp:spPr>
        <a:xfrm>
          <a:off x="4990875" y="2074948"/>
          <a:ext cx="2687394" cy="97897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it-IT" sz="1300" kern="1200" dirty="0"/>
            <a:t>Online </a:t>
          </a:r>
          <a:r>
            <a:rPr lang="it-IT" sz="1300" kern="1200" dirty="0" err="1"/>
            <a:t>Marketpalces</a:t>
          </a:r>
          <a:endParaRPr lang="it-IT" sz="1300" kern="1200" dirty="0"/>
        </a:p>
        <a:p>
          <a:pPr marL="114300" lvl="1" indent="-114300" algn="l" defTabSz="577850">
            <a:lnSpc>
              <a:spcPct val="90000"/>
            </a:lnSpc>
            <a:spcBef>
              <a:spcPct val="0"/>
            </a:spcBef>
            <a:spcAft>
              <a:spcPct val="15000"/>
            </a:spcAft>
            <a:buChar char="•"/>
          </a:pPr>
          <a:r>
            <a:rPr lang="it-IT" sz="1300" kern="1200" dirty="0"/>
            <a:t>App Store</a:t>
          </a:r>
        </a:p>
        <a:p>
          <a:pPr marL="114300" lvl="1" indent="-114300" algn="l" defTabSz="577850">
            <a:lnSpc>
              <a:spcPct val="90000"/>
            </a:lnSpc>
            <a:spcBef>
              <a:spcPct val="0"/>
            </a:spcBef>
            <a:spcAft>
              <a:spcPct val="15000"/>
            </a:spcAft>
            <a:buChar char="•"/>
          </a:pPr>
          <a:r>
            <a:rPr lang="it-IT" sz="1300" kern="1200" dirty="0"/>
            <a:t>Social Network</a:t>
          </a:r>
        </a:p>
        <a:p>
          <a:pPr marL="114300" lvl="1" indent="-114300" algn="l" defTabSz="577850">
            <a:lnSpc>
              <a:spcPct val="90000"/>
            </a:lnSpc>
            <a:spcBef>
              <a:spcPct val="0"/>
            </a:spcBef>
            <a:spcAft>
              <a:spcPct val="15000"/>
            </a:spcAft>
            <a:buChar char="•"/>
          </a:pPr>
          <a:r>
            <a:rPr lang="it-IT" sz="1300" kern="1200" dirty="0"/>
            <a:t>Ecc..</a:t>
          </a:r>
        </a:p>
      </dsp:txBody>
      <dsp:txXfrm>
        <a:off x="4990875" y="2074948"/>
        <a:ext cx="2687394" cy="978979"/>
      </dsp:txXfrm>
    </dsp:sp>
    <dsp:sp modelId="{0E71B482-D639-4418-9FBB-26A6A417FBD9}">
      <dsp:nvSpPr>
        <dsp:cNvPr id="0" name=""/>
        <dsp:cNvSpPr/>
      </dsp:nvSpPr>
      <dsp:spPr>
        <a:xfrm>
          <a:off x="4990875" y="3053927"/>
          <a:ext cx="2687394" cy="97897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it-IT" sz="1300" kern="1200" dirty="0"/>
            <a:t>Piattaforme online e motori di ricerca con più di 45 milioni di utenti nell’UE</a:t>
          </a:r>
        </a:p>
      </dsp:txBody>
      <dsp:txXfrm>
        <a:off x="4990875" y="3053927"/>
        <a:ext cx="2687394" cy="97897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D8AA08-318E-480F-A23D-54E335179554}" type="datetimeFigureOut">
              <a:rPr lang="it-IT" smtClean="0"/>
              <a:t>29/01/2025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DDD44C-00C6-4159-B3C1-5143C5EBC711}" type="slidenum">
              <a:rPr lang="it-IT" smtClean="0"/>
              <a:t>‹N›</a:t>
            </a:fld>
            <a:endParaRPr lang="it-IT"/>
          </a:p>
        </p:txBody>
      </p:sp>
    </p:spTree>
    <p:extLst>
      <p:ext uri="{BB962C8B-B14F-4D97-AF65-F5344CB8AC3E}">
        <p14:creationId xmlns:p14="http://schemas.microsoft.com/office/powerpoint/2010/main" val="309357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A9DDD44C-00C6-4159-B3C1-5143C5EBC711}" type="slidenum">
              <a:rPr lang="it-IT" smtClean="0"/>
              <a:t>2</a:t>
            </a:fld>
            <a:endParaRPr lang="it-IT"/>
          </a:p>
        </p:txBody>
      </p:sp>
    </p:spTree>
    <p:extLst>
      <p:ext uri="{BB962C8B-B14F-4D97-AF65-F5344CB8AC3E}">
        <p14:creationId xmlns:p14="http://schemas.microsoft.com/office/powerpoint/2010/main" val="2304369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061832-F095-6356-8E2D-EAD5D246F71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DE64CCD-3B12-EA54-F057-5DC7A31F15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044FCABA-A472-EBC6-7A29-AC1F14A910E0}"/>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5" name="Segnaposto piè di pagina 4">
            <a:extLst>
              <a:ext uri="{FF2B5EF4-FFF2-40B4-BE49-F238E27FC236}">
                <a16:creationId xmlns:a16="http://schemas.microsoft.com/office/drawing/2014/main" id="{8509488A-4373-4A95-226A-C838CA64321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8E659B7-9F74-EBDA-97A3-9E0133068A33}"/>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373489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5823C8-DCF4-C265-8DEB-111550429A2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A3B48D7-97C9-844C-8F93-04018513AB0E}"/>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AC0FECE-9D98-43AB-717E-A6519DB0458F}"/>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5" name="Segnaposto piè di pagina 4">
            <a:extLst>
              <a:ext uri="{FF2B5EF4-FFF2-40B4-BE49-F238E27FC236}">
                <a16:creationId xmlns:a16="http://schemas.microsoft.com/office/drawing/2014/main" id="{5CA0218A-CE6D-2F17-4229-DE16AD10EBD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905E838-4495-C4D3-376B-AF05A3C44A8B}"/>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713896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1CF2A4-60D7-D666-FCD3-62F777D4D6BC}"/>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D9B07411-1F81-6719-D61C-62FFBBF1B1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06425459-639E-F543-4B03-BBF15890A311}"/>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5" name="Segnaposto piè di pagina 4">
            <a:extLst>
              <a:ext uri="{FF2B5EF4-FFF2-40B4-BE49-F238E27FC236}">
                <a16:creationId xmlns:a16="http://schemas.microsoft.com/office/drawing/2014/main" id="{01EA44C0-E933-DF05-62E5-C2989E4944A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63B2F4-A46F-A3D1-8E0F-E1598204C6FD}"/>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1402744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6E5CC7-E84C-4E62-F9E9-B2E0F41BF9B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0804D28-0B5B-5AAF-48E8-C59944B8D592}"/>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58226CBB-7D93-E193-BFF8-33EA60EB835D}"/>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6B1D8915-A195-56D0-4146-8728164EA5DA}"/>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6" name="Segnaposto piè di pagina 5">
            <a:extLst>
              <a:ext uri="{FF2B5EF4-FFF2-40B4-BE49-F238E27FC236}">
                <a16:creationId xmlns:a16="http://schemas.microsoft.com/office/drawing/2014/main" id="{BC7E3260-6493-87E6-ACC8-8F0FA699E50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772B640-98D8-615A-7268-CDCAC7E8C32D}"/>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81891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AFB7E08-09F9-ADE4-ED39-0EA6C2E9B7F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54BB67C-FF16-E4DE-46ED-D7728E2AB7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C7A78CF-5EAF-7793-E332-7F52C9730E1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033B72A-8C02-B58B-117F-09214D3867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7B328EA7-D745-424D-2186-D28B8F0A779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4EE0F347-AF8A-6581-1CAD-3F78D0A4563D}"/>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8" name="Segnaposto piè di pagina 7">
            <a:extLst>
              <a:ext uri="{FF2B5EF4-FFF2-40B4-BE49-F238E27FC236}">
                <a16:creationId xmlns:a16="http://schemas.microsoft.com/office/drawing/2014/main" id="{F87747FE-4362-8049-4040-14A241C35A0A}"/>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1E1584DA-1ECD-C64D-ED97-1172E30A73D1}"/>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809031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2AFA67-C177-4A1E-15C1-73C27683E64D}"/>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A77C3E40-ED81-7A6C-F115-29A87D106A42}"/>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4" name="Segnaposto piè di pagina 3">
            <a:extLst>
              <a:ext uri="{FF2B5EF4-FFF2-40B4-BE49-F238E27FC236}">
                <a16:creationId xmlns:a16="http://schemas.microsoft.com/office/drawing/2014/main" id="{B401AE76-26ED-5934-EE5D-60E7FDB91452}"/>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EED65B2-4B9F-B31D-2095-D927DCDEA707}"/>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39331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C7A00F4-661C-6363-90BF-7A40A195557B}"/>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3" name="Segnaposto piè di pagina 2">
            <a:extLst>
              <a:ext uri="{FF2B5EF4-FFF2-40B4-BE49-F238E27FC236}">
                <a16:creationId xmlns:a16="http://schemas.microsoft.com/office/drawing/2014/main" id="{C85A38BF-F60C-1837-965F-7B4487C49BD2}"/>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EF34F7BA-85A6-D3B3-5F35-6F585FB61775}"/>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32031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D10320-7511-4902-202E-46364C83666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3068986-932C-A636-A316-975AD616F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4E4B86B1-9E1D-810D-66EE-65AB8A20E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879EE68-1E04-DDBC-8667-579BC7926FFC}"/>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6" name="Segnaposto piè di pagina 5">
            <a:extLst>
              <a:ext uri="{FF2B5EF4-FFF2-40B4-BE49-F238E27FC236}">
                <a16:creationId xmlns:a16="http://schemas.microsoft.com/office/drawing/2014/main" id="{1EA729DD-CBA3-79BE-6A3B-76C76AB6B62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2FBBE5E-3E8F-223A-4D1F-B50021C96D04}"/>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1457604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49B13F-1D80-A17A-54E5-EB5A4F96A84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EA73B7C-47AD-C77D-1115-614785BD8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1DD552B-8403-EF51-A2C6-7618EB1799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CFDC20A-229C-8203-7204-892619EEBFD9}"/>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6" name="Segnaposto piè di pagina 5">
            <a:extLst>
              <a:ext uri="{FF2B5EF4-FFF2-40B4-BE49-F238E27FC236}">
                <a16:creationId xmlns:a16="http://schemas.microsoft.com/office/drawing/2014/main" id="{ABAB3D3A-B2D8-2724-7F39-C6DEF1724A3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37B859A-E48F-F922-DC29-E40AE1748759}"/>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954009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CF253F-5F3F-1201-6972-3A65CB6D2D5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0C76D30-B85B-69C2-4509-F9A92EC9AEEF}"/>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48D274E-DD78-9152-9CF7-EB7322301EDF}"/>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5" name="Segnaposto piè di pagina 4">
            <a:extLst>
              <a:ext uri="{FF2B5EF4-FFF2-40B4-BE49-F238E27FC236}">
                <a16:creationId xmlns:a16="http://schemas.microsoft.com/office/drawing/2014/main" id="{9754FA8A-B893-2756-1ADE-151A0FC8DC0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9C2A3A8-F160-1BF6-AA15-95E93743495B}"/>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3529937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FF924375-B02B-6C2E-75FA-8F0ECCF7A321}"/>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3B66575-2B88-8B4D-8152-8EAF4A9EF378}"/>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F7F3ECA-4191-8AEB-8E23-98D174D7FD28}"/>
              </a:ext>
            </a:extLst>
          </p:cNvPr>
          <p:cNvSpPr>
            <a:spLocks noGrp="1"/>
          </p:cNvSpPr>
          <p:nvPr>
            <p:ph type="dt" sz="half" idx="10"/>
          </p:nvPr>
        </p:nvSpPr>
        <p:spPr/>
        <p:txBody>
          <a:bodyPr/>
          <a:lstStyle/>
          <a:p>
            <a:fld id="{FBD77B27-66D1-46EA-95BB-DECE94B4D743}" type="datetimeFigureOut">
              <a:rPr lang="it-IT" smtClean="0"/>
              <a:t>29/01/2025</a:t>
            </a:fld>
            <a:endParaRPr lang="it-IT"/>
          </a:p>
        </p:txBody>
      </p:sp>
      <p:sp>
        <p:nvSpPr>
          <p:cNvPr id="5" name="Segnaposto piè di pagina 4">
            <a:extLst>
              <a:ext uri="{FF2B5EF4-FFF2-40B4-BE49-F238E27FC236}">
                <a16:creationId xmlns:a16="http://schemas.microsoft.com/office/drawing/2014/main" id="{B4B523BE-BDEA-C682-4A44-1F3B04F1FBA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AF6DC8E-04ED-806F-CF63-67CE9B9824D4}"/>
              </a:ext>
            </a:extLst>
          </p:cNvPr>
          <p:cNvSpPr>
            <a:spLocks noGrp="1"/>
          </p:cNvSpPr>
          <p:nvPr>
            <p:ph type="sldNum" sz="quarter" idx="12"/>
          </p:nvPr>
        </p:nvSpPr>
        <p:spPr/>
        <p:txBody>
          <a:bodyPr/>
          <a:lstStyle/>
          <a:p>
            <a:fld id="{F6AECDAF-7B48-4A87-B735-6393485AEE27}" type="slidenum">
              <a:rPr lang="it-IT" smtClean="0"/>
              <a:t>‹N›</a:t>
            </a:fld>
            <a:endParaRPr lang="it-IT"/>
          </a:p>
        </p:txBody>
      </p:sp>
    </p:spTree>
    <p:extLst>
      <p:ext uri="{BB962C8B-B14F-4D97-AF65-F5344CB8AC3E}">
        <p14:creationId xmlns:p14="http://schemas.microsoft.com/office/powerpoint/2010/main" val="2550004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420B401-C338-7404-F392-B81E27A18D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709E15C-F379-D359-6816-D798C0FAFF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6315BB0-AEDB-C721-1AF0-CC9167DBE1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D77B27-66D1-46EA-95BB-DECE94B4D743}" type="datetimeFigureOut">
              <a:rPr lang="it-IT" smtClean="0"/>
              <a:t>29/01/2025</a:t>
            </a:fld>
            <a:endParaRPr lang="it-IT"/>
          </a:p>
        </p:txBody>
      </p:sp>
      <p:sp>
        <p:nvSpPr>
          <p:cNvPr id="5" name="Segnaposto piè di pagina 4">
            <a:extLst>
              <a:ext uri="{FF2B5EF4-FFF2-40B4-BE49-F238E27FC236}">
                <a16:creationId xmlns:a16="http://schemas.microsoft.com/office/drawing/2014/main" id="{6B4531E4-CD85-BD9B-7891-D8AE4C2378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BB8CF502-8266-E021-8517-197569565D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AECDAF-7B48-4A87-B735-6393485AEE27}" type="slidenum">
              <a:rPr lang="it-IT" smtClean="0"/>
              <a:t>‹N›</a:t>
            </a:fld>
            <a:endParaRPr lang="it-IT"/>
          </a:p>
        </p:txBody>
      </p:sp>
    </p:spTree>
    <p:extLst>
      <p:ext uri="{BB962C8B-B14F-4D97-AF65-F5344CB8AC3E}">
        <p14:creationId xmlns:p14="http://schemas.microsoft.com/office/powerpoint/2010/main" val="1850627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dba.it/" TargetMode="External"/><Relationship Id="rId2" Type="http://schemas.openxmlformats.org/officeDocument/2006/relationships/hyperlink" Target="https://commission.europa.eu/" TargetMode="External"/><Relationship Id="rId1" Type="http://schemas.openxmlformats.org/officeDocument/2006/relationships/slideLayout" Target="../slideLayouts/slideLayout1.xml"/><Relationship Id="rId4" Type="http://schemas.openxmlformats.org/officeDocument/2006/relationships/hyperlink" Target="https://www.dintec.it/" TargetMode="Externa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ur-lex.europa.eu/legal-content/IT/TXT/HTML/?uri=CELEX:32022R2065" TargetMode="External"/><Relationship Id="rId2" Type="http://schemas.openxmlformats.org/officeDocument/2006/relationships/hyperlink" Target="https://eur-lex.europa.eu/legal-content/IT/TXT/HTML/?uri=CELEX:32016R0679&amp;qid=1736529316367" TargetMode="External"/><Relationship Id="rId1" Type="http://schemas.openxmlformats.org/officeDocument/2006/relationships/slideLayout" Target="../slideLayouts/slideLayout2.xml"/><Relationship Id="rId5" Type="http://schemas.openxmlformats.org/officeDocument/2006/relationships/hyperlink" Target="https://www.edpb.europa.eu/about-edpb/about-edpb/annual-reports_en" TargetMode="External"/><Relationship Id="rId4" Type="http://schemas.openxmlformats.org/officeDocument/2006/relationships/hyperlink" Target="https://eur-lex.europa.eu/legal-content/IT/TXT/?uri=CELEX%3A32023R2854&amp;qid=173713178123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www.deceptive.design/types" TargetMode="External"/><Relationship Id="rId2" Type="http://schemas.openxmlformats.org/officeDocument/2006/relationships/hyperlink" Target="https://www.edpb.europa.eu/system/files/2023-02/edpb_03-2022_guidelines_on_deceptive_design_patterns_in_social_media_platform_interfaces_v2_en_0.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tiktok.com/transparency/en/dsa-transparency"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2C4F1B9E-F898-50E3-A109-75E38FA08DF5}"/>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a:solidFill>
                  <a:srgbClr val="FFFFFF"/>
                </a:solidFill>
                <a:latin typeface="+mj-lt"/>
                <a:ea typeface="+mj-ea"/>
                <a:cs typeface="+mj-cs"/>
              </a:rPr>
              <a:t>GDPR E DSA </a:t>
            </a:r>
          </a:p>
        </p:txBody>
      </p:sp>
      <p:sp>
        <p:nvSpPr>
          <p:cNvPr id="3" name="Sottotitolo 2">
            <a:extLst>
              <a:ext uri="{FF2B5EF4-FFF2-40B4-BE49-F238E27FC236}">
                <a16:creationId xmlns:a16="http://schemas.microsoft.com/office/drawing/2014/main" id="{675944E0-A193-B660-DEE6-42CE135C6A86}"/>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a:solidFill>
                <a:schemeClr val="tx1"/>
              </a:solidFill>
              <a:latin typeface="+mn-lt"/>
              <a:ea typeface="+mn-ea"/>
              <a:cs typeface="+mn-cs"/>
            </a:endParaRPr>
          </a:p>
          <a:p>
            <a:pPr algn="l"/>
            <a:endParaRPr lang="en-US" kern="120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30E6CA8F-C855-8A34-BEDC-1407B604B2D9}"/>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
        <p:nvSpPr>
          <p:cNvPr id="5" name="CasellaDiTesto 4">
            <a:extLst>
              <a:ext uri="{FF2B5EF4-FFF2-40B4-BE49-F238E27FC236}">
                <a16:creationId xmlns:a16="http://schemas.microsoft.com/office/drawing/2014/main" id="{7B59EB83-A92E-59F7-B3EB-F43C8B1CB199}"/>
              </a:ext>
            </a:extLst>
          </p:cNvPr>
          <p:cNvSpPr txBox="1"/>
          <p:nvPr/>
        </p:nvSpPr>
        <p:spPr>
          <a:xfrm>
            <a:off x="455519" y="4826675"/>
            <a:ext cx="11736475" cy="2031325"/>
          </a:xfrm>
          <a:prstGeom prst="rect">
            <a:avLst/>
          </a:prstGeom>
          <a:noFill/>
        </p:spPr>
        <p:txBody>
          <a:bodyPr wrap="square" rtlCol="0">
            <a:spAutoFit/>
          </a:bodyPr>
          <a:lstStyle/>
          <a:p>
            <a:r>
              <a:rPr lang="it-IT" u="sng" dirty="0"/>
              <a:t>FONTI</a:t>
            </a:r>
            <a:r>
              <a:rPr lang="it-IT" dirty="0"/>
              <a:t>:</a:t>
            </a:r>
          </a:p>
          <a:p>
            <a:pPr marL="285750" indent="-285750">
              <a:buFont typeface="Arial" panose="020B0604020202020204" pitchFamily="34" charset="0"/>
              <a:buChar char="•"/>
            </a:pPr>
            <a:r>
              <a:rPr lang="it-IT" dirty="0"/>
              <a:t>Commissione europea: </a:t>
            </a:r>
            <a:r>
              <a:rPr lang="it-IT" dirty="0">
                <a:hlinkClick r:id="rId2"/>
              </a:rPr>
              <a:t>https://commission.europa.eu/</a:t>
            </a:r>
            <a:endParaRPr lang="it-IT" dirty="0"/>
          </a:p>
          <a:p>
            <a:pPr marL="285750" indent="-285750">
              <a:buFont typeface="Arial" panose="020B0604020202020204" pitchFamily="34" charset="0"/>
              <a:buChar char="•"/>
            </a:pPr>
            <a:r>
              <a:rPr lang="it-IT" dirty="0"/>
              <a:t>SDBA benefit: </a:t>
            </a:r>
            <a:r>
              <a:rPr lang="it-IT" dirty="0">
                <a:hlinkClick r:id="rId3"/>
              </a:rPr>
              <a:t>https://sdba.it/</a:t>
            </a:r>
            <a:endParaRPr lang="it-IT" dirty="0"/>
          </a:p>
          <a:p>
            <a:pPr marL="285750" indent="-285750">
              <a:buFont typeface="Arial" panose="020B0604020202020204" pitchFamily="34" charset="0"/>
              <a:buChar char="•"/>
            </a:pPr>
            <a:r>
              <a:rPr lang="it-IT" dirty="0"/>
              <a:t>DINTEC consorzio per l’innovazione tecnologica: </a:t>
            </a:r>
            <a:r>
              <a:rPr lang="it-IT" dirty="0">
                <a:hlinkClick r:id="rId4"/>
              </a:rPr>
              <a:t>https://www.dintec.it/</a:t>
            </a:r>
            <a:endParaRPr lang="it-IT" dirty="0"/>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p:txBody>
      </p:sp>
    </p:spTree>
    <p:extLst>
      <p:ext uri="{BB962C8B-B14F-4D97-AF65-F5344CB8AC3E}">
        <p14:creationId xmlns:p14="http://schemas.microsoft.com/office/powerpoint/2010/main" val="1369726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Segnaposto contenuto 11">
            <a:extLst>
              <a:ext uri="{FF2B5EF4-FFF2-40B4-BE49-F238E27FC236}">
                <a16:creationId xmlns:a16="http://schemas.microsoft.com/office/drawing/2014/main" id="{7B8D1804-2B2A-54BE-13A1-38F7A85A98CD}"/>
              </a:ext>
            </a:extLst>
          </p:cNvPr>
          <p:cNvGraphicFramePr>
            <a:graphicFrameLocks noGrp="1"/>
          </p:cNvGraphicFramePr>
          <p:nvPr>
            <p:ph idx="1"/>
            <p:extLst>
              <p:ext uri="{D42A27DB-BD31-4B8C-83A1-F6EECF244321}">
                <p14:modId xmlns:p14="http://schemas.microsoft.com/office/powerpoint/2010/main" val="1297436906"/>
              </p:ext>
            </p:extLst>
          </p:nvPr>
        </p:nvGraphicFramePr>
        <p:xfrm>
          <a:off x="3920013" y="119365"/>
          <a:ext cx="2327073" cy="6619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CasellaDiTesto 12">
            <a:extLst>
              <a:ext uri="{FF2B5EF4-FFF2-40B4-BE49-F238E27FC236}">
                <a16:creationId xmlns:a16="http://schemas.microsoft.com/office/drawing/2014/main" id="{FA716733-5F7A-915E-10F3-733EAF1CF363}"/>
              </a:ext>
            </a:extLst>
          </p:cNvPr>
          <p:cNvSpPr txBox="1"/>
          <p:nvPr/>
        </p:nvSpPr>
        <p:spPr>
          <a:xfrm>
            <a:off x="5993563" y="68885"/>
            <a:ext cx="6096000" cy="1077218"/>
          </a:xfrm>
          <a:prstGeom prst="rect">
            <a:avLst/>
          </a:prstGeom>
          <a:noFill/>
        </p:spPr>
        <p:txBody>
          <a:bodyPr wrap="square" rtlCol="0">
            <a:spAutoFit/>
          </a:bodyPr>
          <a:lstStyle/>
          <a:p>
            <a:pPr algn="just"/>
            <a:r>
              <a:rPr lang="it-IT" sz="1600" dirty="0"/>
              <a:t>Le tecnologie digitali dovrebbero tutelare i diritti delle persone, sostenere la democrazia e garantire che tutti gli operatori digitali agiscano in modo responsabile e sicuro. L’UE promuovere questi valori in tutto il mono.</a:t>
            </a:r>
          </a:p>
        </p:txBody>
      </p:sp>
      <p:sp>
        <p:nvSpPr>
          <p:cNvPr id="14" name="CasellaDiTesto 13">
            <a:extLst>
              <a:ext uri="{FF2B5EF4-FFF2-40B4-BE49-F238E27FC236}">
                <a16:creationId xmlns:a16="http://schemas.microsoft.com/office/drawing/2014/main" id="{7114105D-0D07-8C5C-EC53-125001FE6D0F}"/>
              </a:ext>
            </a:extLst>
          </p:cNvPr>
          <p:cNvSpPr txBox="1"/>
          <p:nvPr/>
        </p:nvSpPr>
        <p:spPr>
          <a:xfrm>
            <a:off x="5993563" y="1200284"/>
            <a:ext cx="6096000" cy="1077218"/>
          </a:xfrm>
          <a:prstGeom prst="rect">
            <a:avLst/>
          </a:prstGeom>
          <a:noFill/>
        </p:spPr>
        <p:txBody>
          <a:bodyPr wrap="square" rtlCol="0">
            <a:spAutoFit/>
          </a:bodyPr>
          <a:lstStyle/>
          <a:p>
            <a:pPr algn="just"/>
            <a:r>
              <a:rPr lang="it-IT" sz="1600" dirty="0"/>
              <a:t>Le persone dovrebbero beneficiare di un ambiente online equo, essere protette da contenuti illegali e dannosi, e acquisire autonomia e responsabilità  quando interagiscono con tecnologie nuove e in evoluzione come l’intelligenza artificiale</a:t>
            </a:r>
          </a:p>
        </p:txBody>
      </p:sp>
      <p:sp>
        <p:nvSpPr>
          <p:cNvPr id="15" name="CasellaDiTesto 14">
            <a:extLst>
              <a:ext uri="{FF2B5EF4-FFF2-40B4-BE49-F238E27FC236}">
                <a16:creationId xmlns:a16="http://schemas.microsoft.com/office/drawing/2014/main" id="{D871BAF9-D9ED-CA7E-1F34-886EE2BC58F7}"/>
              </a:ext>
            </a:extLst>
          </p:cNvPr>
          <p:cNvSpPr txBox="1"/>
          <p:nvPr/>
        </p:nvSpPr>
        <p:spPr>
          <a:xfrm>
            <a:off x="5993563" y="2455358"/>
            <a:ext cx="6096000" cy="830997"/>
          </a:xfrm>
          <a:prstGeom prst="rect">
            <a:avLst/>
          </a:prstGeom>
          <a:noFill/>
        </p:spPr>
        <p:txBody>
          <a:bodyPr wrap="square" rtlCol="0">
            <a:spAutoFit/>
          </a:bodyPr>
          <a:lstStyle/>
          <a:p>
            <a:pPr algn="just"/>
            <a:r>
              <a:rPr lang="it-IT" sz="1600" dirty="0"/>
              <a:t>L’ambiente digitale dovrebbe essere sicuro e protetto. Tutti gli utenti, dai minori alle persone anziane, dovrebbero essere autonomi, responsabili e protetti.</a:t>
            </a:r>
          </a:p>
        </p:txBody>
      </p:sp>
      <p:sp>
        <p:nvSpPr>
          <p:cNvPr id="16" name="CasellaDiTesto 15">
            <a:extLst>
              <a:ext uri="{FF2B5EF4-FFF2-40B4-BE49-F238E27FC236}">
                <a16:creationId xmlns:a16="http://schemas.microsoft.com/office/drawing/2014/main" id="{25D0558F-BCDA-773E-2BEC-96A81DEA3578}"/>
              </a:ext>
            </a:extLst>
          </p:cNvPr>
          <p:cNvSpPr txBox="1"/>
          <p:nvPr/>
        </p:nvSpPr>
        <p:spPr>
          <a:xfrm>
            <a:off x="5993563" y="3574745"/>
            <a:ext cx="6096000" cy="830997"/>
          </a:xfrm>
          <a:prstGeom prst="rect">
            <a:avLst/>
          </a:prstGeom>
          <a:noFill/>
        </p:spPr>
        <p:txBody>
          <a:bodyPr wrap="square" rtlCol="0">
            <a:spAutoFit/>
          </a:bodyPr>
          <a:lstStyle/>
          <a:p>
            <a:pPr algn="just"/>
            <a:r>
              <a:rPr lang="it-IT" sz="1600" dirty="0"/>
              <a:t>La tecnologia dovrebbe unire, e non dividere le persone. Tutti dovrebbero avere accesso a Internet, alle competenze digitali, a servizi pubblici digitali e a condizioni di lavoro eque.</a:t>
            </a:r>
          </a:p>
        </p:txBody>
      </p:sp>
      <p:sp>
        <p:nvSpPr>
          <p:cNvPr id="18" name="CasellaDiTesto 17">
            <a:extLst>
              <a:ext uri="{FF2B5EF4-FFF2-40B4-BE49-F238E27FC236}">
                <a16:creationId xmlns:a16="http://schemas.microsoft.com/office/drawing/2014/main" id="{0CFF0AA1-4864-EA3F-045D-52A3B2BC3CFA}"/>
              </a:ext>
            </a:extLst>
          </p:cNvPr>
          <p:cNvSpPr txBox="1"/>
          <p:nvPr/>
        </p:nvSpPr>
        <p:spPr>
          <a:xfrm>
            <a:off x="5993563" y="4841740"/>
            <a:ext cx="6096000" cy="584775"/>
          </a:xfrm>
          <a:prstGeom prst="rect">
            <a:avLst/>
          </a:prstGeom>
          <a:noFill/>
        </p:spPr>
        <p:txBody>
          <a:bodyPr wrap="square" rtlCol="0">
            <a:spAutoFit/>
          </a:bodyPr>
          <a:lstStyle/>
          <a:p>
            <a:pPr algn="just"/>
            <a:r>
              <a:rPr lang="it-IT" sz="1600" dirty="0"/>
              <a:t>I cittadini dovrebbero poter partecipare al processo democratico a tutti i livelli e avere il controllo sui propri dati.  </a:t>
            </a:r>
          </a:p>
        </p:txBody>
      </p:sp>
      <p:sp>
        <p:nvSpPr>
          <p:cNvPr id="20" name="CasellaDiTesto 19">
            <a:extLst>
              <a:ext uri="{FF2B5EF4-FFF2-40B4-BE49-F238E27FC236}">
                <a16:creationId xmlns:a16="http://schemas.microsoft.com/office/drawing/2014/main" id="{427A12C7-90CC-20EF-16AE-B7A7E7CE25BB}"/>
              </a:ext>
            </a:extLst>
          </p:cNvPr>
          <p:cNvSpPr txBox="1"/>
          <p:nvPr/>
        </p:nvSpPr>
        <p:spPr>
          <a:xfrm>
            <a:off x="5993563" y="5852961"/>
            <a:ext cx="6096000" cy="830997"/>
          </a:xfrm>
          <a:prstGeom prst="rect">
            <a:avLst/>
          </a:prstGeom>
          <a:noFill/>
        </p:spPr>
        <p:txBody>
          <a:bodyPr wrap="square" rtlCol="0">
            <a:spAutoFit/>
          </a:bodyPr>
          <a:lstStyle/>
          <a:p>
            <a:pPr algn="just"/>
            <a:r>
              <a:rPr lang="it-IT" sz="1600" dirty="0"/>
              <a:t>I dispositivi digitali dovrebbero favorire la sostenibilità e la transizione verde. I cittadini devono conoscere l’impatto ambientale e il consumo energetico dei loro dispositivi. </a:t>
            </a:r>
          </a:p>
        </p:txBody>
      </p:sp>
      <p:sp>
        <p:nvSpPr>
          <p:cNvPr id="22" name="CasellaDiTesto 21">
            <a:extLst>
              <a:ext uri="{FF2B5EF4-FFF2-40B4-BE49-F238E27FC236}">
                <a16:creationId xmlns:a16="http://schemas.microsoft.com/office/drawing/2014/main" id="{553F50EA-5C3F-5A6D-72C2-494BF0A5A29E}"/>
              </a:ext>
            </a:extLst>
          </p:cNvPr>
          <p:cNvSpPr txBox="1"/>
          <p:nvPr/>
        </p:nvSpPr>
        <p:spPr>
          <a:xfrm>
            <a:off x="75543" y="5778705"/>
            <a:ext cx="3825430" cy="954107"/>
          </a:xfrm>
          <a:prstGeom prst="rect">
            <a:avLst/>
          </a:prstGeom>
          <a:noFill/>
        </p:spPr>
        <p:txBody>
          <a:bodyPr wrap="square" rtlCol="0">
            <a:spAutoFit/>
          </a:bodyPr>
          <a:lstStyle/>
          <a:p>
            <a:r>
              <a:rPr lang="it-IT" sz="2800" dirty="0">
                <a:solidFill>
                  <a:schemeClr val="bg1"/>
                </a:solidFill>
              </a:rPr>
              <a:t>PRINCIPI </a:t>
            </a:r>
          </a:p>
          <a:p>
            <a:r>
              <a:rPr lang="it-IT" sz="2800" dirty="0">
                <a:solidFill>
                  <a:schemeClr val="bg1"/>
                </a:solidFill>
              </a:rPr>
              <a:t>FONDAMENTALI (UE)</a:t>
            </a:r>
          </a:p>
        </p:txBody>
      </p:sp>
    </p:spTree>
    <p:extLst>
      <p:ext uri="{BB962C8B-B14F-4D97-AF65-F5344CB8AC3E}">
        <p14:creationId xmlns:p14="http://schemas.microsoft.com/office/powerpoint/2010/main" val="476004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510D743-F8BD-A49A-9B86-46303A46C268}"/>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REGOLAMENTI</a:t>
            </a:r>
          </a:p>
        </p:txBody>
      </p:sp>
      <p:sp>
        <p:nvSpPr>
          <p:cNvPr id="4" name="Titolo 1">
            <a:extLst>
              <a:ext uri="{FF2B5EF4-FFF2-40B4-BE49-F238E27FC236}">
                <a16:creationId xmlns:a16="http://schemas.microsoft.com/office/drawing/2014/main" id="{667AEE61-4163-6848-E708-BCDD781676B4}"/>
              </a:ext>
            </a:extLst>
          </p:cNvPr>
          <p:cNvSpPr txBox="1">
            <a:spLocks/>
          </p:cNvSpPr>
          <p:nvPr/>
        </p:nvSpPr>
        <p:spPr>
          <a:xfrm>
            <a:off x="838200" y="186645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dirty="0"/>
              <a:t>General Data </a:t>
            </a:r>
            <a:r>
              <a:rPr lang="it-IT" dirty="0" err="1"/>
              <a:t>Protection</a:t>
            </a:r>
            <a:r>
              <a:rPr lang="it-IT" dirty="0"/>
              <a:t> </a:t>
            </a:r>
            <a:r>
              <a:rPr lang="it-IT" dirty="0" err="1"/>
              <a:t>Regulation</a:t>
            </a:r>
            <a:r>
              <a:rPr lang="it-IT" dirty="0"/>
              <a:t> (GDPR)</a:t>
            </a:r>
          </a:p>
        </p:txBody>
      </p:sp>
      <p:sp>
        <p:nvSpPr>
          <p:cNvPr id="5" name="Segnaposto contenuto 2">
            <a:extLst>
              <a:ext uri="{FF2B5EF4-FFF2-40B4-BE49-F238E27FC236}">
                <a16:creationId xmlns:a16="http://schemas.microsoft.com/office/drawing/2014/main" id="{65185E2F-AB9A-9E75-0B8A-0EF8529EB72A}"/>
              </a:ext>
            </a:extLst>
          </p:cNvPr>
          <p:cNvSpPr txBox="1">
            <a:spLocks/>
          </p:cNvSpPr>
          <p:nvPr/>
        </p:nvSpPr>
        <p:spPr>
          <a:xfrm>
            <a:off x="838200" y="2938863"/>
            <a:ext cx="10515600" cy="40658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t-IT" sz="2400" dirty="0">
                <a:hlinkClick r:id="rId2"/>
              </a:rPr>
              <a:t>REGOLAMENTO</a:t>
            </a:r>
            <a:r>
              <a:rPr lang="it-IT" sz="2400" dirty="0"/>
              <a:t> ENTRATA IN VIGORE 25 MAGGIO 2016, OBBLIGO ENTRO IL 25 MAGGIO </a:t>
            </a:r>
            <a:r>
              <a:rPr lang="it-IT" sz="2400" b="1" dirty="0"/>
              <a:t>2018</a:t>
            </a:r>
          </a:p>
        </p:txBody>
      </p:sp>
      <p:sp>
        <p:nvSpPr>
          <p:cNvPr id="6" name="Titolo 1">
            <a:extLst>
              <a:ext uri="{FF2B5EF4-FFF2-40B4-BE49-F238E27FC236}">
                <a16:creationId xmlns:a16="http://schemas.microsoft.com/office/drawing/2014/main" id="{BC018AA5-ABBB-5B9E-F32C-8E55569E13FC}"/>
              </a:ext>
            </a:extLst>
          </p:cNvPr>
          <p:cNvSpPr txBox="1">
            <a:spLocks/>
          </p:cNvSpPr>
          <p:nvPr/>
        </p:nvSpPr>
        <p:spPr>
          <a:xfrm>
            <a:off x="838200" y="319201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dirty="0"/>
              <a:t>Digital Services Act (DSA)</a:t>
            </a:r>
          </a:p>
        </p:txBody>
      </p:sp>
      <p:sp>
        <p:nvSpPr>
          <p:cNvPr id="7" name="Segnaposto contenuto 2">
            <a:extLst>
              <a:ext uri="{FF2B5EF4-FFF2-40B4-BE49-F238E27FC236}">
                <a16:creationId xmlns:a16="http://schemas.microsoft.com/office/drawing/2014/main" id="{99F565C2-885C-9B56-CD71-AA1DF838D0B2}"/>
              </a:ext>
            </a:extLst>
          </p:cNvPr>
          <p:cNvSpPr txBox="1">
            <a:spLocks/>
          </p:cNvSpPr>
          <p:nvPr/>
        </p:nvSpPr>
        <p:spPr>
          <a:xfrm>
            <a:off x="838200" y="4255204"/>
            <a:ext cx="10515600" cy="40658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t-IT" sz="2400" dirty="0">
                <a:hlinkClick r:id="rId3"/>
              </a:rPr>
              <a:t>REGOLAMENTO</a:t>
            </a:r>
            <a:r>
              <a:rPr lang="it-IT" sz="2400" dirty="0"/>
              <a:t> ENTRATA IN VIGORE 16 NOVEMBRE 2022, OBBLIGO ENTRO IL 17 FEBBRAIO </a:t>
            </a:r>
            <a:r>
              <a:rPr lang="it-IT" sz="2400" b="1" dirty="0"/>
              <a:t>2024</a:t>
            </a:r>
          </a:p>
        </p:txBody>
      </p:sp>
      <p:sp>
        <p:nvSpPr>
          <p:cNvPr id="9" name="Titolo 1">
            <a:extLst>
              <a:ext uri="{FF2B5EF4-FFF2-40B4-BE49-F238E27FC236}">
                <a16:creationId xmlns:a16="http://schemas.microsoft.com/office/drawing/2014/main" id="{DCAC1418-9ADD-B98C-A3A6-8B17BF9A567E}"/>
              </a:ext>
            </a:extLst>
          </p:cNvPr>
          <p:cNvSpPr txBox="1">
            <a:spLocks/>
          </p:cNvSpPr>
          <p:nvPr/>
        </p:nvSpPr>
        <p:spPr>
          <a:xfrm>
            <a:off x="838200" y="45175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dirty="0"/>
              <a:t>Data Act(DA)</a:t>
            </a:r>
          </a:p>
        </p:txBody>
      </p:sp>
      <p:sp>
        <p:nvSpPr>
          <p:cNvPr id="11" name="Segnaposto contenuto 2">
            <a:extLst>
              <a:ext uri="{FF2B5EF4-FFF2-40B4-BE49-F238E27FC236}">
                <a16:creationId xmlns:a16="http://schemas.microsoft.com/office/drawing/2014/main" id="{8E5EFB90-4224-C173-B5CE-32BFB315B474}"/>
              </a:ext>
            </a:extLst>
          </p:cNvPr>
          <p:cNvSpPr txBox="1">
            <a:spLocks/>
          </p:cNvSpPr>
          <p:nvPr/>
        </p:nvSpPr>
        <p:spPr>
          <a:xfrm>
            <a:off x="838200" y="5564478"/>
            <a:ext cx="10515600" cy="40658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t-IT" sz="2400" dirty="0">
                <a:hlinkClick r:id="rId4"/>
              </a:rPr>
              <a:t>REGOLAMENTO</a:t>
            </a:r>
            <a:r>
              <a:rPr lang="it-IT" sz="2400" dirty="0"/>
              <a:t> ENTRATA IN VIGORE 11 GENNAIO 2024, OBBLIGO ENTRO IL 12 SETTEMBRE </a:t>
            </a:r>
            <a:r>
              <a:rPr lang="it-IT" sz="2400" b="1" dirty="0"/>
              <a:t>2025</a:t>
            </a:r>
          </a:p>
        </p:txBody>
      </p:sp>
      <p:sp>
        <p:nvSpPr>
          <p:cNvPr id="13" name="CasellaDiTesto 12">
            <a:extLst>
              <a:ext uri="{FF2B5EF4-FFF2-40B4-BE49-F238E27FC236}">
                <a16:creationId xmlns:a16="http://schemas.microsoft.com/office/drawing/2014/main" id="{5F8A2C29-BE21-B693-E413-437966781877}"/>
              </a:ext>
            </a:extLst>
          </p:cNvPr>
          <p:cNvSpPr txBox="1"/>
          <p:nvPr/>
        </p:nvSpPr>
        <p:spPr>
          <a:xfrm>
            <a:off x="8439755" y="441427"/>
            <a:ext cx="3949562" cy="707886"/>
          </a:xfrm>
          <a:prstGeom prst="rect">
            <a:avLst/>
          </a:prstGeom>
          <a:noFill/>
        </p:spPr>
        <p:txBody>
          <a:bodyPr wrap="square">
            <a:spAutoFit/>
          </a:bodyPr>
          <a:lstStyle/>
          <a:p>
            <a:r>
              <a:rPr lang="it-IT" sz="4000" dirty="0">
                <a:latin typeface="+mj-lt"/>
                <a:hlinkClick r:id="rId5"/>
              </a:rPr>
              <a:t>(REPORT EDPB)</a:t>
            </a:r>
            <a:endParaRPr lang="it-IT" sz="4000" dirty="0">
              <a:latin typeface="+mj-lt"/>
            </a:endParaRPr>
          </a:p>
        </p:txBody>
      </p:sp>
    </p:spTree>
    <p:extLst>
      <p:ext uri="{BB962C8B-B14F-4D97-AF65-F5344CB8AC3E}">
        <p14:creationId xmlns:p14="http://schemas.microsoft.com/office/powerpoint/2010/main" val="962300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BBCD49-BAFE-D483-CC26-A0E3FA781F7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B41D5E4-6136-C51F-ECE3-954B9BDD1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461C83-6E0B-9C89-962E-E87849936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B5894CD-FD97-B989-072B-D3644EA8A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782015-1D3A-BAB7-9705-A6B1F448CE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9A7A29E-34C8-FFF9-91E4-6BD6EC4A0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F2452351-0CBD-31CA-33DB-44FA39FC60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F9D85932-3B0B-5E9D-2F28-28BDDF79E646}"/>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GDPR</a:t>
            </a:r>
          </a:p>
        </p:txBody>
      </p:sp>
      <p:sp>
        <p:nvSpPr>
          <p:cNvPr id="3" name="Sottotitolo 2">
            <a:extLst>
              <a:ext uri="{FF2B5EF4-FFF2-40B4-BE49-F238E27FC236}">
                <a16:creationId xmlns:a16="http://schemas.microsoft.com/office/drawing/2014/main" id="{9C39124D-2B45-A888-9E8D-302DF9BF5617}"/>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a:solidFill>
                <a:schemeClr val="tx1"/>
              </a:solidFill>
              <a:latin typeface="+mn-lt"/>
              <a:ea typeface="+mn-ea"/>
              <a:cs typeface="+mn-cs"/>
            </a:endParaRPr>
          </a:p>
          <a:p>
            <a:pPr algn="l"/>
            <a:endParaRPr lang="en-US" kern="120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0CD2A857-1698-26C5-8D81-BC52F6B86165}"/>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968006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0414516-EFC1-68DF-7D4B-365244F009B3}"/>
              </a:ext>
            </a:extLst>
          </p:cNvPr>
          <p:cNvSpPr>
            <a:spLocks noGrp="1"/>
          </p:cNvSpPr>
          <p:nvPr>
            <p:ph type="title"/>
          </p:nvPr>
        </p:nvSpPr>
        <p:spPr>
          <a:xfrm>
            <a:off x="466722" y="586855"/>
            <a:ext cx="3201366" cy="3387497"/>
          </a:xfrm>
        </p:spPr>
        <p:txBody>
          <a:bodyPr anchor="b">
            <a:normAutofit/>
          </a:bodyPr>
          <a:lstStyle/>
          <a:p>
            <a:pPr algn="r"/>
            <a:r>
              <a:rPr lang="it-IT" sz="4000" dirty="0">
                <a:solidFill>
                  <a:srgbClr val="FFFFFF"/>
                </a:solidFill>
              </a:rPr>
              <a:t>PRINCIPALI</a:t>
            </a:r>
            <a:br>
              <a:rPr lang="it-IT" sz="4000" dirty="0">
                <a:solidFill>
                  <a:srgbClr val="FFFFFF"/>
                </a:solidFill>
              </a:rPr>
            </a:br>
            <a:r>
              <a:rPr lang="it-IT" sz="4000" dirty="0">
                <a:solidFill>
                  <a:srgbClr val="FFFFFF"/>
                </a:solidFill>
              </a:rPr>
              <a:t>OBIETTIVI GDPR</a:t>
            </a:r>
          </a:p>
        </p:txBody>
      </p:sp>
      <p:sp>
        <p:nvSpPr>
          <p:cNvPr id="3" name="Segnaposto contenuto 2">
            <a:extLst>
              <a:ext uri="{FF2B5EF4-FFF2-40B4-BE49-F238E27FC236}">
                <a16:creationId xmlns:a16="http://schemas.microsoft.com/office/drawing/2014/main" id="{AFAB6056-20DA-E3B1-B8D4-653D714D1A2C}"/>
              </a:ext>
            </a:extLst>
          </p:cNvPr>
          <p:cNvSpPr>
            <a:spLocks noGrp="1"/>
          </p:cNvSpPr>
          <p:nvPr>
            <p:ph idx="1"/>
          </p:nvPr>
        </p:nvSpPr>
        <p:spPr>
          <a:xfrm>
            <a:off x="4504549" y="649480"/>
            <a:ext cx="7220730" cy="5546047"/>
          </a:xfrm>
        </p:spPr>
        <p:txBody>
          <a:bodyPr anchor="ctr">
            <a:normAutofit/>
          </a:bodyPr>
          <a:lstStyle/>
          <a:p>
            <a:pPr marL="0" indent="0" algn="just">
              <a:buNone/>
            </a:pPr>
            <a:r>
              <a:rPr lang="it-IT" sz="2000" dirty="0"/>
              <a:t>Assicurare alle persone fisiche il controllo dei propri dati personali. Il Regolamento punta a rispondere alle sfide poste dagli sviluppatori tecnologici e dai nuovi modelli di crescita economica, tenendo conto delle esigenze di tutela dei dati personali.</a:t>
            </a:r>
          </a:p>
          <a:p>
            <a:pPr algn="just"/>
            <a:r>
              <a:rPr lang="it-IT" sz="2000" dirty="0"/>
              <a:t>Introduce regole più chiare in materia di informativa e consenso</a:t>
            </a:r>
          </a:p>
          <a:p>
            <a:pPr algn="just"/>
            <a:r>
              <a:rPr lang="it-IT" sz="2000" dirty="0"/>
              <a:t>Definisce i limiti al trattamento automatizzato dei dati personali</a:t>
            </a:r>
          </a:p>
          <a:p>
            <a:pPr algn="just"/>
            <a:r>
              <a:rPr lang="it-IT" sz="2000" dirty="0"/>
              <a:t>Pone le basi per l’esercizio di nuovi diritti</a:t>
            </a:r>
          </a:p>
          <a:p>
            <a:pPr algn="just"/>
            <a:r>
              <a:rPr lang="it-IT" sz="2000" dirty="0"/>
              <a:t>Stabilisce criteri rigorosi per il trasferimento dei dati al di fuori dell’Ue e per i casi di violazione dei dati personali (</a:t>
            </a:r>
            <a:r>
              <a:rPr lang="it-IT" sz="2000" i="1" dirty="0"/>
              <a:t>data breach</a:t>
            </a:r>
            <a:r>
              <a:rPr lang="it-IT" sz="2000" dirty="0"/>
              <a:t>)</a:t>
            </a:r>
          </a:p>
          <a:p>
            <a:pPr algn="just"/>
            <a:r>
              <a:rPr lang="it-IT" sz="2000" dirty="0"/>
              <a:t>Promuove la responsabilizzazione (</a:t>
            </a:r>
            <a:r>
              <a:rPr lang="it-IT" sz="2000" i="1" dirty="0"/>
              <a:t>accountability</a:t>
            </a:r>
            <a:r>
              <a:rPr lang="it-IT" sz="2000" dirty="0"/>
              <a:t>) dei titolari del trattamento, ossia, sull’adozione di comportamenti proattivi e tali da dimostrare la concreta adozione di misure finalizzate ad assicurare l’applicazione del regolamento</a:t>
            </a:r>
          </a:p>
        </p:txBody>
      </p:sp>
    </p:spTree>
    <p:extLst>
      <p:ext uri="{BB962C8B-B14F-4D97-AF65-F5344CB8AC3E}">
        <p14:creationId xmlns:p14="http://schemas.microsoft.com/office/powerpoint/2010/main" val="1688401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D8C651-809E-6280-D476-84A60FFC5EE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13C1DA-290B-80BA-2144-FBD78B376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231248-2BCE-4D89-2F4B-59F9C3A3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A53446-0E0C-0FE6-7E63-66F34C09B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6020A3-D392-BA06-0DF4-0C505BB91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05293AE-A64A-8449-C44B-79AE29484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DAF046C-1BB9-9B35-257E-B777B3783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3A03FD71-F136-99DE-16BB-B70C68820BE7}"/>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DATO PERSONALE</a:t>
            </a:r>
          </a:p>
        </p:txBody>
      </p:sp>
      <p:sp>
        <p:nvSpPr>
          <p:cNvPr id="3" name="Sottotitolo 2">
            <a:extLst>
              <a:ext uri="{FF2B5EF4-FFF2-40B4-BE49-F238E27FC236}">
                <a16:creationId xmlns:a16="http://schemas.microsoft.com/office/drawing/2014/main" id="{9ED451F1-F88D-8188-236D-6AE3933BA034}"/>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a:solidFill>
                <a:schemeClr val="tx1"/>
              </a:solidFill>
              <a:latin typeface="+mn-lt"/>
              <a:ea typeface="+mn-ea"/>
              <a:cs typeface="+mn-cs"/>
            </a:endParaRPr>
          </a:p>
          <a:p>
            <a:pPr algn="l"/>
            <a:endParaRPr lang="en-US" kern="120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4440418B-3C61-9CEF-E13A-2015A6D81264}"/>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1930033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0A3E5B-53BB-419E-E54F-273042D2D5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F8A3068-2C62-4F2B-BC33-02E455682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A1D78-6BD8-8D06-3242-BC82F6394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AD12C16-1652-DDF7-C76F-F2F186035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A0AB73-004F-B60A-51C6-53173A1EF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D82945F-CCA2-2CE4-0FB2-B895B1A8E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27C4C36-0D63-A8CE-1E51-B1057D828D79}"/>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DATO PERSONALE (art.4)</a:t>
            </a:r>
          </a:p>
        </p:txBody>
      </p:sp>
      <p:sp>
        <p:nvSpPr>
          <p:cNvPr id="3" name="Sottotitolo 2">
            <a:extLst>
              <a:ext uri="{FF2B5EF4-FFF2-40B4-BE49-F238E27FC236}">
                <a16:creationId xmlns:a16="http://schemas.microsoft.com/office/drawing/2014/main" id="{E0061FDD-CD54-5AEB-D300-F792685AEA9B}"/>
              </a:ext>
            </a:extLst>
          </p:cNvPr>
          <p:cNvSpPr txBox="1">
            <a:spLocks/>
          </p:cNvSpPr>
          <p:nvPr/>
        </p:nvSpPr>
        <p:spPr>
          <a:xfrm>
            <a:off x="718795" y="2104184"/>
            <a:ext cx="10754406" cy="424706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t-IT" sz="2000" b="1" dirty="0"/>
              <a:t>Qualsiasi informazione </a:t>
            </a:r>
            <a:r>
              <a:rPr lang="it-IT" sz="2000" dirty="0"/>
              <a:t>riguardante una </a:t>
            </a:r>
            <a:r>
              <a:rPr lang="it-IT" sz="2000" b="1" dirty="0"/>
              <a:t>persona fisica</a:t>
            </a:r>
            <a:r>
              <a:rPr lang="it-IT" sz="2000" b="1" i="1" dirty="0"/>
              <a:t> </a:t>
            </a:r>
            <a:r>
              <a:rPr lang="it-IT" sz="2000" dirty="0"/>
              <a:t>identificata o identificabile (interessato); si considera identificabile la persona fisica che può essere identificata, direttamente o indirettamente, con particolare riferimento a un identificativo come il nome, un numero di identificazione, i dati relativi all'ubicazione, un identificativo online o a una o più elementi caratteristici della sua identità fisica, fisiologica, genetica, psichica, economica, culturale o sociale.</a:t>
            </a:r>
          </a:p>
        </p:txBody>
      </p:sp>
    </p:spTree>
    <p:extLst>
      <p:ext uri="{BB962C8B-B14F-4D97-AF65-F5344CB8AC3E}">
        <p14:creationId xmlns:p14="http://schemas.microsoft.com/office/powerpoint/2010/main" val="1691329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18F26C-43F8-34DE-D4A2-01FBC95F0CD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ED31AB-D323-71B9-BC5A-1C306BEB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0E6FA9-D9C5-8E47-1D48-FE5F2B2EE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02445A-E000-60C8-829D-FECC868E4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B2E9F91-684A-430E-C6F7-0A7549E69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132246-AB8C-BA98-EB58-24E561C11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54130FC-A013-BE54-EFF2-412E1DFA888D}"/>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DECLINAZIONI DEL DATO PERSONALE</a:t>
            </a:r>
          </a:p>
        </p:txBody>
      </p:sp>
      <p:sp>
        <p:nvSpPr>
          <p:cNvPr id="15" name="CasellaDiTesto 14">
            <a:extLst>
              <a:ext uri="{FF2B5EF4-FFF2-40B4-BE49-F238E27FC236}">
                <a16:creationId xmlns:a16="http://schemas.microsoft.com/office/drawing/2014/main" id="{743FDFDF-13B1-B4E7-7B5B-CD6AC60A1306}"/>
              </a:ext>
            </a:extLst>
          </p:cNvPr>
          <p:cNvSpPr txBox="1"/>
          <p:nvPr/>
        </p:nvSpPr>
        <p:spPr>
          <a:xfrm>
            <a:off x="375039" y="2488778"/>
            <a:ext cx="11441918" cy="3477875"/>
          </a:xfrm>
          <a:prstGeom prst="rect">
            <a:avLst/>
          </a:prstGeom>
          <a:noFill/>
        </p:spPr>
        <p:txBody>
          <a:bodyPr wrap="square" rtlCol="0">
            <a:spAutoFit/>
          </a:bodyPr>
          <a:lstStyle/>
          <a:p>
            <a:pPr marL="342900" indent="-342900">
              <a:buFont typeface="Arial" panose="020B0604020202020204" pitchFamily="34" charset="0"/>
              <a:buChar char="•"/>
            </a:pPr>
            <a:r>
              <a:rPr lang="it-IT" sz="2000" b="1" dirty="0"/>
              <a:t>DATI IDENTIFICATIVI</a:t>
            </a:r>
            <a:r>
              <a:rPr lang="it-IT" sz="2000" dirty="0"/>
              <a:t>: Permettono l’identificazione diretta, come i dati anagrafici (ad empio: nome e cognome, data e luogo di nascita, codice fiscale, residenza) ma anche i dati bancari, partiva IVA,  un indirizzo IP.</a:t>
            </a:r>
          </a:p>
          <a:p>
            <a:endParaRPr lang="it-IT" sz="2000" dirty="0"/>
          </a:p>
          <a:p>
            <a:pPr marL="342900" indent="-342900">
              <a:buFont typeface="Arial" panose="020B0604020202020204" pitchFamily="34" charset="0"/>
              <a:buChar char="•"/>
            </a:pPr>
            <a:r>
              <a:rPr lang="it-IT" sz="2000" b="1" dirty="0"/>
              <a:t>DATI DI CONTATTO</a:t>
            </a:r>
            <a:r>
              <a:rPr lang="it-IT" sz="2000" dirty="0"/>
              <a:t>: Dati personali di contatto, tutti quelli che permettono di prendere contatto con soggetti interessati (ad esempio: indirizzo email, un numero di telefono fisso o mobile).</a:t>
            </a:r>
          </a:p>
          <a:p>
            <a:pPr marL="342900" indent="-342900">
              <a:buFont typeface="Arial" panose="020B0604020202020204" pitchFamily="34" charset="0"/>
              <a:buChar char="•"/>
            </a:pPr>
            <a:endParaRPr lang="it-IT" sz="2000" dirty="0"/>
          </a:p>
          <a:p>
            <a:pPr marL="342900" indent="-342900">
              <a:buFont typeface="Arial" panose="020B0604020202020204" pitchFamily="34" charset="0"/>
              <a:buChar char="•"/>
            </a:pPr>
            <a:r>
              <a:rPr lang="it-IT" sz="2000" b="1" dirty="0"/>
              <a:t>DATI DI NATURA PARTICOLARE</a:t>
            </a:r>
            <a:r>
              <a:rPr lang="it-IT" sz="2000" dirty="0"/>
              <a:t>: Dati personali che rivelino l’origine etnica, le opinioni pubbliche, le convinzioni religiose o filosofiche, o l’appartenenza sindacale, dati relativi alla salute o alla vita sessuale o all’orientamento sessuale della persona.</a:t>
            </a:r>
          </a:p>
          <a:p>
            <a:endParaRPr lang="it-IT" sz="2000" dirty="0"/>
          </a:p>
        </p:txBody>
      </p:sp>
    </p:spTree>
    <p:extLst>
      <p:ext uri="{BB962C8B-B14F-4D97-AF65-F5344CB8AC3E}">
        <p14:creationId xmlns:p14="http://schemas.microsoft.com/office/powerpoint/2010/main" val="3124430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E94E6F-272E-0D78-EF0A-22947309B1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064FFC-47A1-17B2-EAFD-2D45C5C428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ABF322C-540D-1DE7-37CA-1A14DECA36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96CB294-8349-A2A1-E25D-215309808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9CCE067-8337-56FA-E2FD-5FFC13D4A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35FCB01-C53B-E3AC-D09E-EEDBA79A2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9F4197B-C767-566E-6B82-8CA761F97109}"/>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DECLINAZIONI DEL DATO PERSONALE</a:t>
            </a:r>
          </a:p>
        </p:txBody>
      </p:sp>
      <p:sp>
        <p:nvSpPr>
          <p:cNvPr id="15" name="CasellaDiTesto 14">
            <a:extLst>
              <a:ext uri="{FF2B5EF4-FFF2-40B4-BE49-F238E27FC236}">
                <a16:creationId xmlns:a16="http://schemas.microsoft.com/office/drawing/2014/main" id="{BF7BB2AB-3502-23D5-1F09-8121C1DDC823}"/>
              </a:ext>
            </a:extLst>
          </p:cNvPr>
          <p:cNvSpPr txBox="1"/>
          <p:nvPr/>
        </p:nvSpPr>
        <p:spPr>
          <a:xfrm>
            <a:off x="375039" y="2181002"/>
            <a:ext cx="11441918" cy="4093428"/>
          </a:xfrm>
          <a:prstGeom prst="rect">
            <a:avLst/>
          </a:prstGeom>
          <a:noFill/>
        </p:spPr>
        <p:txBody>
          <a:bodyPr wrap="square" rtlCol="0">
            <a:spAutoFit/>
          </a:bodyPr>
          <a:lstStyle/>
          <a:p>
            <a:pPr marL="342900" indent="-342900" algn="just">
              <a:buFont typeface="Arial" panose="020B0604020202020204" pitchFamily="34" charset="0"/>
              <a:buChar char="•"/>
            </a:pPr>
            <a:r>
              <a:rPr lang="it-IT" sz="2000" b="1" dirty="0"/>
              <a:t>DATI GIUDIZARI</a:t>
            </a:r>
            <a:r>
              <a:rPr lang="it-IT" sz="2000" dirty="0"/>
              <a:t>: Dati che rivelano l’esistenza di provvedimenti penali suscettibili di iscrizione nel casellario giudiziale, o la qualità di indagato o imputato.</a:t>
            </a:r>
          </a:p>
          <a:p>
            <a:pPr algn="just"/>
            <a:endParaRPr lang="it-IT" sz="2000" dirty="0"/>
          </a:p>
          <a:p>
            <a:pPr marL="342900" indent="-342900" algn="just">
              <a:buFont typeface="Arial" panose="020B0604020202020204" pitchFamily="34" charset="0"/>
              <a:buChar char="•"/>
            </a:pPr>
            <a:r>
              <a:rPr lang="it-IT" sz="2000" b="1" dirty="0"/>
              <a:t>DATI GENETICI</a:t>
            </a:r>
            <a:r>
              <a:rPr lang="it-IT" sz="2000" dirty="0"/>
              <a:t>: I dati personali relativi alle caratteristiche genetiche ereditarie o acquisite di una persona fisica che forniscono informazioni univoche sulla fisiologia o sulla salute di detta persona fisica, e che risultano in particolare dall’analisi di un campione biologico della persona fisica in questione.</a:t>
            </a:r>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r>
              <a:rPr lang="it-IT" sz="2000" b="1" dirty="0"/>
              <a:t>DATI BIOMETRICI</a:t>
            </a:r>
            <a:r>
              <a:rPr lang="it-IT" sz="2000" dirty="0"/>
              <a:t>: I dati personali ottenuti da un trattamento tecnico specifico relativi alle caratteristiche fisiche, fisiologiche o comportamentali di una persona fisica che ne consentono o confermano l'identificazione univoca, quali l’immagine facciale o i dati dattiloscopici (ad esempio: il timbro e la tonalità della voce di una persona in caso di registrazione, l’impronta digitale usata per sbloccare gli smartphone, la forma fisica della mano, del volto, dell’iride o della retina).</a:t>
            </a:r>
          </a:p>
        </p:txBody>
      </p:sp>
    </p:spTree>
    <p:extLst>
      <p:ext uri="{BB962C8B-B14F-4D97-AF65-F5344CB8AC3E}">
        <p14:creationId xmlns:p14="http://schemas.microsoft.com/office/powerpoint/2010/main" val="1119888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D9B41-4635-8FBA-A3B8-A687FC2E1E3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46A3DE-37ED-973E-EA0E-8E71FC988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23FD0D-DF1A-C009-F554-71B97CBEA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9D88E3-E012-9B22-642B-D81CE795E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9C95D93-9BC3-1BE1-8587-6979B5D3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E0CC18E-879E-76DA-4550-B8952BF4E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8202ACB-6622-5081-9A92-EFDA38F7EB82}"/>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VIOLAZIONE DEL DATO PERSONALE</a:t>
            </a:r>
          </a:p>
        </p:txBody>
      </p:sp>
      <p:sp>
        <p:nvSpPr>
          <p:cNvPr id="15" name="CasellaDiTesto 14">
            <a:extLst>
              <a:ext uri="{FF2B5EF4-FFF2-40B4-BE49-F238E27FC236}">
                <a16:creationId xmlns:a16="http://schemas.microsoft.com/office/drawing/2014/main" id="{6CCF1A0A-B0F6-0350-CD1E-6EEC4B19BDD8}"/>
              </a:ext>
            </a:extLst>
          </p:cNvPr>
          <p:cNvSpPr txBox="1"/>
          <p:nvPr/>
        </p:nvSpPr>
        <p:spPr>
          <a:xfrm>
            <a:off x="375039" y="3719884"/>
            <a:ext cx="11441918" cy="1015663"/>
          </a:xfrm>
          <a:prstGeom prst="rect">
            <a:avLst/>
          </a:prstGeom>
          <a:noFill/>
        </p:spPr>
        <p:txBody>
          <a:bodyPr wrap="square" rtlCol="0">
            <a:spAutoFit/>
          </a:bodyPr>
          <a:lstStyle/>
          <a:p>
            <a:pPr algn="just"/>
            <a:r>
              <a:rPr lang="it-IT" sz="2000" b="1" dirty="0"/>
              <a:t>DATA BREACH</a:t>
            </a:r>
            <a:r>
              <a:rPr lang="it-IT" sz="2000" dirty="0"/>
              <a:t>: la violazione di sicurezza che comporta accidentalmente o in modo illecito la distruzione, la perdita, la modifica, la divulgazione non autorizzata o l'accesso ai dati personali trasmessi, conservati o comunque trattati.</a:t>
            </a:r>
          </a:p>
        </p:txBody>
      </p:sp>
    </p:spTree>
    <p:extLst>
      <p:ext uri="{BB962C8B-B14F-4D97-AF65-F5344CB8AC3E}">
        <p14:creationId xmlns:p14="http://schemas.microsoft.com/office/powerpoint/2010/main" val="183035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54C3BA-1AEE-D095-9E59-5AA79416F66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B21CCB9-454A-8000-6D00-CE5F2AE14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36FC5A0-014F-A8E9-61BA-D5DB3D6C7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F73A9E-8BBC-A24A-507D-FE8E09D8A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4E9B81-AA52-59DC-8D33-57BBAD3F0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AC97B67-C359-36F3-511F-402D616C98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190582C-C07C-09BA-4D9B-8D78310B2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7B990C6A-4AB1-5288-F1CE-75ED5DFA05F8}"/>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DIRITTI</a:t>
            </a:r>
          </a:p>
        </p:txBody>
      </p:sp>
      <p:sp>
        <p:nvSpPr>
          <p:cNvPr id="3" name="Sottotitolo 2">
            <a:extLst>
              <a:ext uri="{FF2B5EF4-FFF2-40B4-BE49-F238E27FC236}">
                <a16:creationId xmlns:a16="http://schemas.microsoft.com/office/drawing/2014/main" id="{72B57127-F517-C290-16E7-ED95F3614670}"/>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E025AF06-9C94-8616-947C-3C7229E73BC7}"/>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131502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741172-64A1-7AD6-B4DC-B89B390C5C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2E839F-CA4B-34ED-25D4-AD9A21568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B2B1C44-5CF1-7ABF-34FC-086698C0C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9A64748-6AF2-F620-2C15-FE643FFCC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D95B97F-4A6A-8A5F-27F3-C422725D1F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D0FA7AC-38F8-C48D-2B55-67798E749B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527C069-4DD7-A07E-47B1-D0C489393A4F}"/>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DIRITTI</a:t>
            </a:r>
          </a:p>
        </p:txBody>
      </p:sp>
      <p:sp>
        <p:nvSpPr>
          <p:cNvPr id="15" name="CasellaDiTesto 14">
            <a:extLst>
              <a:ext uri="{FF2B5EF4-FFF2-40B4-BE49-F238E27FC236}">
                <a16:creationId xmlns:a16="http://schemas.microsoft.com/office/drawing/2014/main" id="{0362DB45-6553-2C00-45D1-6CF23EC660A0}"/>
              </a:ext>
            </a:extLst>
          </p:cNvPr>
          <p:cNvSpPr txBox="1"/>
          <p:nvPr/>
        </p:nvSpPr>
        <p:spPr>
          <a:xfrm>
            <a:off x="375039" y="2488778"/>
            <a:ext cx="11441918" cy="3477875"/>
          </a:xfrm>
          <a:prstGeom prst="rect">
            <a:avLst/>
          </a:prstGeom>
          <a:noFill/>
        </p:spPr>
        <p:txBody>
          <a:bodyPr wrap="square" rtlCol="0">
            <a:spAutoFit/>
          </a:bodyPr>
          <a:lstStyle/>
          <a:p>
            <a:pPr algn="just"/>
            <a:r>
              <a:rPr lang="it-IT" sz="2000" dirty="0"/>
              <a:t>I </a:t>
            </a:r>
            <a:r>
              <a:rPr lang="it-IT" sz="2000" b="1" dirty="0"/>
              <a:t>DIRITTI </a:t>
            </a:r>
            <a:r>
              <a:rPr lang="it-IT" sz="2000" dirty="0"/>
              <a:t>dell’interessato:</a:t>
            </a:r>
          </a:p>
          <a:p>
            <a:pPr algn="just"/>
            <a:endParaRPr lang="it-IT" sz="2000" dirty="0"/>
          </a:p>
          <a:p>
            <a:pPr marL="342900" indent="-342900" algn="just">
              <a:buFont typeface="Arial" panose="020B0604020202020204" pitchFamily="34" charset="0"/>
              <a:buChar char="•"/>
            </a:pPr>
            <a:r>
              <a:rPr lang="it-IT" sz="2000" dirty="0"/>
              <a:t>Diritto all’informativa;</a:t>
            </a:r>
          </a:p>
          <a:p>
            <a:pPr marL="342900" indent="-342900" algn="just">
              <a:buFont typeface="Arial" panose="020B0604020202020204" pitchFamily="34" charset="0"/>
              <a:buChar char="•"/>
            </a:pPr>
            <a:r>
              <a:rPr lang="it-IT" sz="2000" dirty="0"/>
              <a:t>Diritto di accesso;</a:t>
            </a:r>
          </a:p>
          <a:p>
            <a:pPr marL="342900" indent="-342900" algn="just">
              <a:buFont typeface="Arial" panose="020B0604020202020204" pitchFamily="34" charset="0"/>
              <a:buChar char="•"/>
            </a:pPr>
            <a:r>
              <a:rPr lang="it-IT" sz="2000" dirty="0"/>
              <a:t>Diritto di comunicazione di una violazione di dati;</a:t>
            </a:r>
          </a:p>
          <a:p>
            <a:pPr marL="342900" indent="-342900" algn="just">
              <a:buFont typeface="Arial" panose="020B0604020202020204" pitchFamily="34" charset="0"/>
              <a:buChar char="•"/>
            </a:pPr>
            <a:r>
              <a:rPr lang="it-IT" sz="2000" dirty="0"/>
              <a:t>Diritto di rettifica e di integrazione;</a:t>
            </a:r>
          </a:p>
          <a:p>
            <a:pPr marL="342900" indent="-342900" algn="just">
              <a:buFont typeface="Arial" panose="020B0604020202020204" pitchFamily="34" charset="0"/>
              <a:buChar char="•"/>
            </a:pPr>
            <a:r>
              <a:rPr lang="it-IT" sz="2000" dirty="0"/>
              <a:t>Diritto di cancellazione/oblio;</a:t>
            </a:r>
          </a:p>
          <a:p>
            <a:pPr marL="342900" indent="-342900" algn="just">
              <a:buFont typeface="Arial" panose="020B0604020202020204" pitchFamily="34" charset="0"/>
              <a:buChar char="•"/>
            </a:pPr>
            <a:r>
              <a:rPr lang="it-IT" sz="2000" dirty="0"/>
              <a:t>Diritto di limitazione;</a:t>
            </a:r>
          </a:p>
          <a:p>
            <a:pPr marL="342900" indent="-342900" algn="just">
              <a:buFont typeface="Arial" panose="020B0604020202020204" pitchFamily="34" charset="0"/>
              <a:buChar char="•"/>
            </a:pPr>
            <a:r>
              <a:rPr lang="it-IT" sz="2000" dirty="0"/>
              <a:t>Diritto alla portabilità dei dati;</a:t>
            </a:r>
          </a:p>
          <a:p>
            <a:pPr marL="342900" indent="-342900" algn="just">
              <a:buFont typeface="Arial" panose="020B0604020202020204" pitchFamily="34" charset="0"/>
              <a:buChar char="•"/>
            </a:pPr>
            <a:r>
              <a:rPr lang="it-IT" sz="2000" dirty="0"/>
              <a:t>Diritto di opposizione;</a:t>
            </a:r>
          </a:p>
          <a:p>
            <a:pPr marL="342900" indent="-342900" algn="just">
              <a:buFont typeface="Arial" panose="020B0604020202020204" pitchFamily="34" charset="0"/>
              <a:buChar char="•"/>
            </a:pPr>
            <a:r>
              <a:rPr lang="it-IT" sz="2000" dirty="0"/>
              <a:t>Diritto a non subire decisione basate unicamente su trattamenti automatizzati.</a:t>
            </a:r>
          </a:p>
        </p:txBody>
      </p:sp>
    </p:spTree>
    <p:extLst>
      <p:ext uri="{BB962C8B-B14F-4D97-AF65-F5344CB8AC3E}">
        <p14:creationId xmlns:p14="http://schemas.microsoft.com/office/powerpoint/2010/main" val="2692832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508AC-78F9-444B-6AEE-030337549FB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D187C9-6FCF-6D4D-4095-8254D9874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D1C9260-EE50-AB41-231A-8D417F0021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7AFA4F-8BEA-F121-59B8-D8D733D5F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3E42D9-2416-F50A-AD93-2684003A9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BE9007B-B00A-5CD1-AF16-8C8CF1F20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E1A465-CFF2-8267-6D87-57BE1F0BB0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D66CB681-025D-17EC-9F9F-D58F73626825}"/>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INFORMATIVA</a:t>
            </a:r>
          </a:p>
        </p:txBody>
      </p:sp>
      <p:sp>
        <p:nvSpPr>
          <p:cNvPr id="3" name="Sottotitolo 2">
            <a:extLst>
              <a:ext uri="{FF2B5EF4-FFF2-40B4-BE49-F238E27FC236}">
                <a16:creationId xmlns:a16="http://schemas.microsoft.com/office/drawing/2014/main" id="{640A92FD-B956-73A2-5333-C7531F51B8A8}"/>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1B2D5368-2CFD-9997-F950-5CE2752A792D}"/>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3653638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121871-C675-E1F2-2A1B-CBC35B5B38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90498-F74A-AD0B-259D-3159C2CAE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4275DA-2648-4B63-3DB3-623AABC61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20EAF2B-1C3F-5EDA-CE8B-C9D18229D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4A956D2-BFBD-58F2-90E8-256FBEE4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E14E356-117B-2E83-AAA7-4D7E977D1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72CB3DD-B920-BAD5-002A-DF4A16B431CE}"/>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INFORMATIVA</a:t>
            </a:r>
          </a:p>
        </p:txBody>
      </p:sp>
      <p:sp>
        <p:nvSpPr>
          <p:cNvPr id="15" name="CasellaDiTesto 14">
            <a:extLst>
              <a:ext uri="{FF2B5EF4-FFF2-40B4-BE49-F238E27FC236}">
                <a16:creationId xmlns:a16="http://schemas.microsoft.com/office/drawing/2014/main" id="{C6688F7B-6BCE-A569-98D8-EBB43F5CAB38}"/>
              </a:ext>
            </a:extLst>
          </p:cNvPr>
          <p:cNvSpPr txBox="1"/>
          <p:nvPr/>
        </p:nvSpPr>
        <p:spPr>
          <a:xfrm>
            <a:off x="375039" y="1854481"/>
            <a:ext cx="11441918" cy="4708981"/>
          </a:xfrm>
          <a:prstGeom prst="rect">
            <a:avLst/>
          </a:prstGeom>
          <a:noFill/>
        </p:spPr>
        <p:txBody>
          <a:bodyPr wrap="square" rtlCol="0">
            <a:spAutoFit/>
          </a:bodyPr>
          <a:lstStyle/>
          <a:p>
            <a:pPr algn="just"/>
            <a:r>
              <a:rPr lang="it-IT" sz="2000" dirty="0"/>
              <a:t>L’</a:t>
            </a:r>
            <a:r>
              <a:rPr lang="it-IT" sz="2000" b="1" dirty="0"/>
              <a:t>INFORMATIVA </a:t>
            </a:r>
            <a:r>
              <a:rPr lang="it-IT" sz="2000" dirty="0"/>
              <a:t>(clienti, fornitori, dipendenti, candidati) è il documento fondamentale e strumento di trasparenza riguardo al trattamento dei dati personali e all’esercizio dei diritti, da cui deve emergere:</a:t>
            </a:r>
          </a:p>
          <a:p>
            <a:pPr algn="just"/>
            <a:endParaRPr lang="it-IT" sz="2000" dirty="0"/>
          </a:p>
          <a:p>
            <a:pPr marL="342900" indent="-342900" algn="just">
              <a:buFont typeface="Arial" panose="020B0604020202020204" pitchFamily="34" charset="0"/>
              <a:buChar char="•"/>
            </a:pPr>
            <a:r>
              <a:rPr lang="it-IT" sz="2000" dirty="0"/>
              <a:t>Quali dati personali sono trattati;</a:t>
            </a:r>
          </a:p>
          <a:p>
            <a:pPr marL="342900" indent="-342900" algn="just">
              <a:buFont typeface="Arial" panose="020B0604020202020204" pitchFamily="34" charset="0"/>
              <a:buChar char="•"/>
            </a:pPr>
            <a:r>
              <a:rPr lang="it-IT" sz="2000" dirty="0"/>
              <a:t>In che modalità sono trattati i dati;</a:t>
            </a:r>
          </a:p>
          <a:p>
            <a:pPr marL="342900" indent="-342900" algn="just">
              <a:buFont typeface="Arial" panose="020B0604020202020204" pitchFamily="34" charset="0"/>
              <a:buChar char="•"/>
            </a:pPr>
            <a:r>
              <a:rPr lang="it-IT" sz="2000" dirty="0"/>
              <a:t>Per quali finalità sono raccolti i dati;</a:t>
            </a:r>
          </a:p>
          <a:p>
            <a:pPr marL="342900" indent="-342900" algn="just">
              <a:buFont typeface="Arial" panose="020B0604020202020204" pitchFamily="34" charset="0"/>
              <a:buChar char="•"/>
            </a:pPr>
            <a:r>
              <a:rPr lang="it-IT" sz="2000" dirty="0"/>
              <a:t>Per quanto tempo sono conservati i dati;</a:t>
            </a:r>
          </a:p>
          <a:p>
            <a:pPr marL="342900" indent="-342900" algn="just">
              <a:buFont typeface="Arial" panose="020B0604020202020204" pitchFamily="34" charset="0"/>
              <a:buChar char="•"/>
            </a:pPr>
            <a:r>
              <a:rPr lang="it-IT" sz="2000" dirty="0"/>
              <a:t>Come sono protetti i dati;</a:t>
            </a:r>
          </a:p>
          <a:p>
            <a:pPr marL="342900" indent="-342900" algn="just">
              <a:buFont typeface="Arial" panose="020B0604020202020204" pitchFamily="34" charset="0"/>
              <a:buChar char="•"/>
            </a:pPr>
            <a:r>
              <a:rPr lang="it-IT" sz="2000" dirty="0"/>
              <a:t>Chi ha accesso ai dati;</a:t>
            </a:r>
          </a:p>
          <a:p>
            <a:pPr marL="342900" indent="-342900" algn="just">
              <a:buFont typeface="Arial" panose="020B0604020202020204" pitchFamily="34" charset="0"/>
              <a:buChar char="•"/>
            </a:pPr>
            <a:r>
              <a:rPr lang="it-IT" sz="2000" dirty="0"/>
              <a:t>A chi possono venire comunicati/e trasferiti i dati;</a:t>
            </a:r>
          </a:p>
          <a:p>
            <a:pPr marL="342900" indent="-342900" algn="just">
              <a:buFont typeface="Arial" panose="020B0604020202020204" pitchFamily="34" charset="0"/>
              <a:buChar char="•"/>
            </a:pPr>
            <a:r>
              <a:rPr lang="it-IT" sz="2000" dirty="0"/>
              <a:t>I dati del Titolare, il suo/i responsabili;</a:t>
            </a:r>
          </a:p>
          <a:p>
            <a:pPr marL="342900" indent="-342900" algn="just">
              <a:buFont typeface="Arial" panose="020B0604020202020204" pitchFamily="34" charset="0"/>
              <a:buChar char="•"/>
            </a:pPr>
            <a:r>
              <a:rPr lang="it-IT" sz="2000" dirty="0"/>
              <a:t>Il responsabile della Protezione Dati o DPO (se nominato).</a:t>
            </a:r>
          </a:p>
          <a:p>
            <a:pPr marL="342900" indent="-342900" algn="just">
              <a:buFont typeface="Arial" panose="020B0604020202020204" pitchFamily="34" charset="0"/>
              <a:buChar char="•"/>
            </a:pPr>
            <a:endParaRPr lang="it-IT" sz="2000" dirty="0"/>
          </a:p>
          <a:p>
            <a:pPr algn="just"/>
            <a:r>
              <a:rPr lang="it-IT" sz="2000" dirty="0"/>
              <a:t>L’informativa va resa per iscritto (anche con mezzi elettronici) e deve essere facilmente accessibile, trasparente, concisa, semplice e chiara. </a:t>
            </a:r>
          </a:p>
        </p:txBody>
      </p:sp>
    </p:spTree>
    <p:extLst>
      <p:ext uri="{BB962C8B-B14F-4D97-AF65-F5344CB8AC3E}">
        <p14:creationId xmlns:p14="http://schemas.microsoft.com/office/powerpoint/2010/main" val="1420975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FBBA07-4F5A-6FFC-7E78-4FB93B9F3B4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31B40D-3A5E-848B-709F-DB04AE8CE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D7E1E5-7F46-9249-350A-E0C80A664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17F38D-916A-9126-0724-865891ADC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1B400CC-A5ED-A4BF-2A28-CB4EDCF13F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D3752EA-240A-854F-9A70-A3AF595B8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CB7E3F1-96BC-7A10-971C-954A44BA9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82BB1576-CA13-6D56-7EDA-2A36A9DA7BC5}"/>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PRIVACY POLICY</a:t>
            </a:r>
          </a:p>
        </p:txBody>
      </p:sp>
      <p:sp>
        <p:nvSpPr>
          <p:cNvPr id="3" name="Sottotitolo 2">
            <a:extLst>
              <a:ext uri="{FF2B5EF4-FFF2-40B4-BE49-F238E27FC236}">
                <a16:creationId xmlns:a16="http://schemas.microsoft.com/office/drawing/2014/main" id="{895129F9-1150-8B45-BA74-40FD1C87C146}"/>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56919DBF-C507-6954-A663-708BEA0915DE}"/>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955154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47A346-2BCD-87B1-D067-3E03F5BDC8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69B173-079B-48BE-01E1-1D4489FF6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AC7223B-0580-EC34-7B19-22E7B96E4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DE4A53-1E72-C72F-F2B4-F6CB50786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70943D-50FD-8FB7-9DA4-1567F6AB1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08F8420-18DE-D4D2-BE2F-E7351EF1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8B4066B-0193-B8FD-D75F-4CA8E57326A0}"/>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PRIVACY POLICY</a:t>
            </a:r>
          </a:p>
        </p:txBody>
      </p:sp>
      <p:sp>
        <p:nvSpPr>
          <p:cNvPr id="15" name="CasellaDiTesto 14">
            <a:extLst>
              <a:ext uri="{FF2B5EF4-FFF2-40B4-BE49-F238E27FC236}">
                <a16:creationId xmlns:a16="http://schemas.microsoft.com/office/drawing/2014/main" id="{242F21E9-2314-E4B3-2922-7AFD0EAD0230}"/>
              </a:ext>
            </a:extLst>
          </p:cNvPr>
          <p:cNvSpPr txBox="1"/>
          <p:nvPr/>
        </p:nvSpPr>
        <p:spPr>
          <a:xfrm>
            <a:off x="375039" y="2027321"/>
            <a:ext cx="11441918" cy="4401205"/>
          </a:xfrm>
          <a:prstGeom prst="rect">
            <a:avLst/>
          </a:prstGeom>
          <a:noFill/>
        </p:spPr>
        <p:txBody>
          <a:bodyPr wrap="square" rtlCol="0">
            <a:spAutoFit/>
          </a:bodyPr>
          <a:lstStyle/>
          <a:p>
            <a:pPr algn="just"/>
            <a:r>
              <a:rPr lang="it-IT" sz="2000" dirty="0"/>
              <a:t>Per i </a:t>
            </a:r>
            <a:r>
              <a:rPr lang="it-IT" sz="2000" b="1" dirty="0"/>
              <a:t>siti web</a:t>
            </a:r>
            <a:r>
              <a:rPr lang="it-IT" sz="2000" dirty="0"/>
              <a:t> è necessario disporre di un’informativa dedicata agli utenti del sito, che descriva:</a:t>
            </a:r>
          </a:p>
          <a:p>
            <a:pPr algn="just"/>
            <a:endParaRPr lang="it-IT" sz="2000" dirty="0"/>
          </a:p>
          <a:p>
            <a:pPr marL="342900" indent="-342900" algn="just">
              <a:buFont typeface="Arial" panose="020B0604020202020204" pitchFamily="34" charset="0"/>
              <a:buChar char="•"/>
            </a:pPr>
            <a:r>
              <a:rPr lang="it-IT" sz="2000" dirty="0"/>
              <a:t>Quali tipologie di dati vengono richiesti tramite i moduli di contatto e le finalità per cui vengono utilizzati;</a:t>
            </a:r>
          </a:p>
          <a:p>
            <a:pPr marL="342900" indent="-342900" algn="just">
              <a:buFont typeface="Arial" panose="020B0604020202020204" pitchFamily="34" charset="0"/>
              <a:buChar char="•"/>
            </a:pPr>
            <a:r>
              <a:rPr lang="it-IT" sz="2000" dirty="0"/>
              <a:t>Se i dati vengono raccolti per l’invio di newsletter;</a:t>
            </a:r>
          </a:p>
          <a:p>
            <a:pPr marL="342900" indent="-342900" algn="just">
              <a:buFont typeface="Arial" panose="020B0604020202020204" pitchFamily="34" charset="0"/>
              <a:buChar char="•"/>
            </a:pPr>
            <a:r>
              <a:rPr lang="it-IT" sz="2000" dirty="0"/>
              <a:t>Le informazioni del fornitore di servizio di mailing;</a:t>
            </a:r>
          </a:p>
          <a:p>
            <a:pPr marL="342900" indent="-342900" algn="just">
              <a:buFont typeface="Arial" panose="020B0604020202020204" pitchFamily="34" charset="0"/>
              <a:buChar char="•"/>
            </a:pPr>
            <a:r>
              <a:rPr lang="it-IT" sz="2000" dirty="0"/>
              <a:t>Se i dati vengono profilati (quindi analizzati, aggregati, ecc.) attraverso il processo di e-mail marketing;</a:t>
            </a:r>
          </a:p>
          <a:p>
            <a:pPr marL="342900" indent="-342900" algn="just">
              <a:buFont typeface="Arial" panose="020B0604020202020204" pitchFamily="34" charset="0"/>
              <a:buChar char="•"/>
            </a:pPr>
            <a:r>
              <a:rPr lang="it-IT" sz="2000" dirty="0"/>
              <a:t>Se vi sono descritte le modalità di pagamento e le norme di sicurezza, anche mediante una pagina di checkout, per il controllo dei dati prima di un acquisto on-line;</a:t>
            </a:r>
          </a:p>
          <a:p>
            <a:pPr marL="342900" indent="-342900" algn="just">
              <a:buFont typeface="Arial" panose="020B0604020202020204" pitchFamily="34" charset="0"/>
              <a:buChar char="•"/>
            </a:pPr>
            <a:r>
              <a:rPr lang="it-IT" sz="2000" dirty="0"/>
              <a:t>Che tipologia di dati vengono richiesti nel contact form e il loro scopo;</a:t>
            </a:r>
          </a:p>
          <a:p>
            <a:pPr marL="342900" indent="-342900" algn="just">
              <a:buFont typeface="Arial" panose="020B0604020202020204" pitchFamily="34" charset="0"/>
              <a:buChar char="•"/>
            </a:pPr>
            <a:r>
              <a:rPr lang="it-IT" sz="2000" dirty="0"/>
              <a:t>Informazioni sul server del sito web (Hosting Provider) con, possibilmente una breve descrizione dei suoi sistemi di sicurezza, dove risiedono i server (se in paesi UE o extra UE);</a:t>
            </a:r>
          </a:p>
          <a:p>
            <a:pPr marL="342900" indent="-342900" algn="just">
              <a:buFont typeface="Arial" panose="020B0604020202020204" pitchFamily="34" charset="0"/>
              <a:buChar char="•"/>
            </a:pPr>
            <a:endParaRPr lang="it-IT" sz="2000" dirty="0"/>
          </a:p>
        </p:txBody>
      </p:sp>
    </p:spTree>
    <p:extLst>
      <p:ext uri="{BB962C8B-B14F-4D97-AF65-F5344CB8AC3E}">
        <p14:creationId xmlns:p14="http://schemas.microsoft.com/office/powerpoint/2010/main" val="2355177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BBCD8C-8EBF-11C2-7EF5-8635E628EEA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3400-C9C4-E8A6-8627-DE4474169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B21021-B9D7-A73C-13C2-6CFB189D5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152805-89AB-C44D-E511-B0D7564CD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D0B76BB-EFF8-0FEE-5350-8C1B2B43EB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EE3D045-7E63-8B0E-67CB-57EC60263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62BF476-EB00-C92C-D553-4DD766C11AE6}"/>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PRIVACY POLICY</a:t>
            </a:r>
          </a:p>
        </p:txBody>
      </p:sp>
      <p:sp>
        <p:nvSpPr>
          <p:cNvPr id="15" name="CasellaDiTesto 14">
            <a:extLst>
              <a:ext uri="{FF2B5EF4-FFF2-40B4-BE49-F238E27FC236}">
                <a16:creationId xmlns:a16="http://schemas.microsoft.com/office/drawing/2014/main" id="{8DFB323A-31C8-F65D-5ADF-3CA1867EA6DD}"/>
              </a:ext>
            </a:extLst>
          </p:cNvPr>
          <p:cNvSpPr txBox="1"/>
          <p:nvPr/>
        </p:nvSpPr>
        <p:spPr>
          <a:xfrm>
            <a:off x="375039" y="2027321"/>
            <a:ext cx="11441918" cy="3785652"/>
          </a:xfrm>
          <a:prstGeom prst="rect">
            <a:avLst/>
          </a:prstGeom>
          <a:noFill/>
        </p:spPr>
        <p:txBody>
          <a:bodyPr wrap="square" rtlCol="0">
            <a:spAutoFit/>
          </a:bodyPr>
          <a:lstStyle/>
          <a:p>
            <a:pPr algn="just"/>
            <a:r>
              <a:rPr lang="it-IT" sz="2000" dirty="0"/>
              <a:t>Per i </a:t>
            </a:r>
            <a:r>
              <a:rPr lang="it-IT" sz="2000" b="1" dirty="0"/>
              <a:t>siti web</a:t>
            </a:r>
            <a:r>
              <a:rPr lang="it-IT" sz="2000" dirty="0"/>
              <a:t> è necessario disporre di un’informativa dedicata agli utenti del sito, che descriva:</a:t>
            </a:r>
          </a:p>
          <a:p>
            <a:pPr algn="just"/>
            <a:endParaRPr lang="it-IT" sz="2000" dirty="0"/>
          </a:p>
          <a:p>
            <a:pPr marL="342900" indent="-342900" algn="just">
              <a:buFont typeface="Arial" panose="020B0604020202020204" pitchFamily="34" charset="0"/>
              <a:buChar char="•"/>
            </a:pPr>
            <a:r>
              <a:rPr lang="it-IT" sz="2000" dirty="0"/>
              <a:t>Indicare i fornitori di terze parti (Responsabili Esterni) che trattano i dati dei tuoi utenti (ad esempio: Activecampaign, Mailchimp, MailUP, Google, PayPal, ecc.) e link alle relative pagine privacy;</a:t>
            </a:r>
          </a:p>
          <a:p>
            <a:pPr marL="342900" indent="-342900" algn="just">
              <a:buFont typeface="Arial" panose="020B0604020202020204" pitchFamily="34" charset="0"/>
              <a:buChar char="•"/>
            </a:pPr>
            <a:r>
              <a:rPr lang="it-IT" sz="2000" dirty="0"/>
              <a:t>Link alle rispettive pagine privacy dei fornitori di terze parti che hanno servizi attivi sul tuo sito web di cui citiamo i più utilizzati: Google Analytics, Google AdWords, il Pixel di Facebook, servizi di remarketing, servizi che tengono traccia dei dati degli utenti finali, ecc.;</a:t>
            </a:r>
          </a:p>
          <a:p>
            <a:pPr marL="342900" indent="-342900" algn="just">
              <a:buFont typeface="Arial" panose="020B0604020202020204" pitchFamily="34" charset="0"/>
              <a:buChar char="•"/>
            </a:pPr>
            <a:r>
              <a:rPr lang="it-IT" sz="2000" dirty="0"/>
              <a:t>A chi potrebbero essere trasferiti e/o comunicati i dati (esempio: Enti Pubblici, Forze di Polizia, ecc.)</a:t>
            </a:r>
          </a:p>
          <a:p>
            <a:pPr marL="342900" indent="-342900" algn="just">
              <a:buFont typeface="Arial" panose="020B0604020202020204" pitchFamily="34" charset="0"/>
              <a:buChar char="•"/>
            </a:pPr>
            <a:r>
              <a:rPr lang="it-IT" sz="2000" dirty="0"/>
              <a:t>Chi ha accesso ai dati;</a:t>
            </a:r>
          </a:p>
          <a:p>
            <a:pPr marL="342900" indent="-342900" algn="just">
              <a:buFont typeface="Arial" panose="020B0604020202020204" pitchFamily="34" charset="0"/>
              <a:buChar char="•"/>
            </a:pPr>
            <a:r>
              <a:rPr lang="it-IT" sz="2000" dirty="0"/>
              <a:t>Link a tutti i widget, plugin, applicazioni o software che memorizzano i dati degli utenti.</a:t>
            </a:r>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endParaRPr lang="it-IT" sz="2000" dirty="0"/>
          </a:p>
        </p:txBody>
      </p:sp>
    </p:spTree>
    <p:extLst>
      <p:ext uri="{BB962C8B-B14F-4D97-AF65-F5344CB8AC3E}">
        <p14:creationId xmlns:p14="http://schemas.microsoft.com/office/powerpoint/2010/main" val="1745251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CAC7F7-2523-BBE5-1F65-64D14CCCDA1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BBEA14-BF0B-5361-D70A-B6B0E345A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34F4100-C26F-D34E-98D1-008475819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BE05DA1-2617-BB9F-ABB3-0C5607FA7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D53CC25-049F-2833-607C-4143F8E51A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0E7B24-46CA-69F4-1182-E4692CE8D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FDB1063-320B-0DED-41AF-BD40FD5826C2}"/>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COOKIE POLICY</a:t>
            </a:r>
          </a:p>
        </p:txBody>
      </p:sp>
      <p:sp>
        <p:nvSpPr>
          <p:cNvPr id="15" name="CasellaDiTesto 14">
            <a:extLst>
              <a:ext uri="{FF2B5EF4-FFF2-40B4-BE49-F238E27FC236}">
                <a16:creationId xmlns:a16="http://schemas.microsoft.com/office/drawing/2014/main" id="{868AA31F-D9CE-98D4-1186-CBB3CD19E523}"/>
              </a:ext>
            </a:extLst>
          </p:cNvPr>
          <p:cNvSpPr txBox="1"/>
          <p:nvPr/>
        </p:nvSpPr>
        <p:spPr>
          <a:xfrm>
            <a:off x="375039" y="2027113"/>
            <a:ext cx="11441918" cy="4401205"/>
          </a:xfrm>
          <a:prstGeom prst="rect">
            <a:avLst/>
          </a:prstGeom>
          <a:noFill/>
        </p:spPr>
        <p:txBody>
          <a:bodyPr wrap="square" rtlCol="0">
            <a:spAutoFit/>
          </a:bodyPr>
          <a:lstStyle/>
          <a:p>
            <a:pPr algn="just"/>
            <a:r>
              <a:rPr lang="it-IT" sz="2000" dirty="0"/>
              <a:t>Per i </a:t>
            </a:r>
            <a:r>
              <a:rPr lang="it-IT" sz="2000" b="1" dirty="0"/>
              <a:t>siti web</a:t>
            </a:r>
            <a:r>
              <a:rPr lang="it-IT" sz="2000" dirty="0"/>
              <a:t> è necessario disporre di un documento tecnico che descriva quali cookie sono utilizzati e per cosa servono. Possiamo distinguerli in:</a:t>
            </a:r>
          </a:p>
          <a:p>
            <a:pPr algn="just"/>
            <a:endParaRPr lang="it-IT" sz="2000" dirty="0"/>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r>
              <a:rPr lang="it-IT" sz="2000" b="1" dirty="0"/>
              <a:t>COOKIE TECNICI</a:t>
            </a:r>
            <a:r>
              <a:rPr lang="it-IT" sz="2000" dirty="0"/>
              <a:t>: di navigazione o di sessione (quelli strettamente necessari all’uso del sito);</a:t>
            </a:r>
          </a:p>
          <a:p>
            <a:pPr algn="just"/>
            <a:endParaRPr lang="it-IT" sz="2000" dirty="0"/>
          </a:p>
          <a:p>
            <a:pPr marL="342900" indent="-342900" algn="just">
              <a:buFont typeface="Arial" panose="020B0604020202020204" pitchFamily="34" charset="0"/>
              <a:buChar char="•"/>
            </a:pPr>
            <a:r>
              <a:rPr lang="it-IT" sz="2000" b="1" dirty="0"/>
              <a:t>COOKIE ANALYTICS</a:t>
            </a:r>
            <a:r>
              <a:rPr lang="it-IT" sz="2000" dirty="0"/>
              <a:t>: assimilabili a quelli tecnici che rilevano dati statistici in forma aggregata (esempio: numero di visitatori, orari, area geografica, ecc.)</a:t>
            </a:r>
          </a:p>
          <a:p>
            <a:pPr algn="just"/>
            <a:endParaRPr lang="it-IT" sz="2000" dirty="0"/>
          </a:p>
          <a:p>
            <a:pPr marL="342900" indent="-342900" algn="just">
              <a:buFont typeface="Arial" panose="020B0604020202020204" pitchFamily="34" charset="0"/>
              <a:buChar char="•"/>
            </a:pPr>
            <a:r>
              <a:rPr lang="it-IT" sz="2000" b="1" dirty="0"/>
              <a:t>COOKIE DI PROFILAZIONE</a:t>
            </a:r>
            <a:r>
              <a:rPr lang="it-IT" sz="2000" dirty="0"/>
              <a:t>: quelli che rilevano un comportamento di un utente direttamente dal sito;</a:t>
            </a:r>
          </a:p>
          <a:p>
            <a:pPr algn="just"/>
            <a:endParaRPr lang="it-IT" sz="2000" dirty="0"/>
          </a:p>
          <a:p>
            <a:pPr marL="342900" indent="-342900" algn="just">
              <a:buFont typeface="Arial" panose="020B0604020202020204" pitchFamily="34" charset="0"/>
              <a:buChar char="•"/>
            </a:pPr>
            <a:r>
              <a:rPr lang="it-IT" sz="2000" b="1" dirty="0"/>
              <a:t>COOKIE DI PROFILAZIONE DI TERZE PARTI</a:t>
            </a:r>
            <a:r>
              <a:rPr lang="it-IT" sz="2000" dirty="0"/>
              <a:t>: quelli che rilevano un comportamento dell’utente rilevando dispositivo o indirizzo IP anche da parte di siti esterni a quello che si sta visitando;</a:t>
            </a:r>
          </a:p>
        </p:txBody>
      </p:sp>
    </p:spTree>
    <p:extLst>
      <p:ext uri="{BB962C8B-B14F-4D97-AF65-F5344CB8AC3E}">
        <p14:creationId xmlns:p14="http://schemas.microsoft.com/office/powerpoint/2010/main" val="330672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8884DC-B57F-006D-FECE-96AB2FE3B19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F13E6A-4844-EFFC-E950-FCD927050D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7F9637-8219-BEC6-9E3C-648EB3A4D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53AA9-C569-43B7-67BD-C30A9742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F6DA7A5-80C1-76C2-F25E-2BD98E91D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C24B501-C7D2-1054-1DCD-ECA0659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7B61828B-A294-D1AB-E235-48F5D9F08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6FC12F36-B9E9-7923-F599-9F4197085DEB}"/>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SANZIONI</a:t>
            </a:r>
          </a:p>
        </p:txBody>
      </p:sp>
      <p:sp>
        <p:nvSpPr>
          <p:cNvPr id="3" name="Sottotitolo 2">
            <a:extLst>
              <a:ext uri="{FF2B5EF4-FFF2-40B4-BE49-F238E27FC236}">
                <a16:creationId xmlns:a16="http://schemas.microsoft.com/office/drawing/2014/main" id="{FD57E41D-4B9B-C777-C98D-2B851AF97E38}"/>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F8FA81B1-9916-730F-35EB-1EFB0C047018}"/>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1609097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90E69D9-AD28-7164-4741-433AD8F52D7F}"/>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SANZIONI</a:t>
            </a:r>
          </a:p>
        </p:txBody>
      </p:sp>
      <p:sp>
        <p:nvSpPr>
          <p:cNvPr id="3" name="Segnaposto contenuto 2">
            <a:extLst>
              <a:ext uri="{FF2B5EF4-FFF2-40B4-BE49-F238E27FC236}">
                <a16:creationId xmlns:a16="http://schemas.microsoft.com/office/drawing/2014/main" id="{F33E7133-299D-2D58-49BD-B7EF7F2DC010}"/>
              </a:ext>
            </a:extLst>
          </p:cNvPr>
          <p:cNvSpPr>
            <a:spLocks noGrp="1"/>
          </p:cNvSpPr>
          <p:nvPr>
            <p:ph idx="1"/>
          </p:nvPr>
        </p:nvSpPr>
        <p:spPr>
          <a:xfrm>
            <a:off x="1371599" y="2318197"/>
            <a:ext cx="9724031" cy="3683358"/>
          </a:xfrm>
        </p:spPr>
        <p:txBody>
          <a:bodyPr anchor="ctr">
            <a:normAutofit/>
          </a:bodyPr>
          <a:lstStyle/>
          <a:p>
            <a:pPr marL="0" indent="0" algn="just">
              <a:buNone/>
            </a:pPr>
            <a:r>
              <a:rPr lang="it-IT" sz="2000" dirty="0"/>
              <a:t>Gli importi delle sanzioni previsti sono pari ad un massimo di 10 milioni di euro o 20 milioni di euro, o se l’importo è maggiore possono arrivare fino 4% del fatturato annuo mondiale nell’esercizio finanziario precedente alla comunicazione di avvio del procedimento.</a:t>
            </a:r>
          </a:p>
        </p:txBody>
      </p:sp>
    </p:spTree>
    <p:extLst>
      <p:ext uri="{BB962C8B-B14F-4D97-AF65-F5344CB8AC3E}">
        <p14:creationId xmlns:p14="http://schemas.microsoft.com/office/powerpoint/2010/main" val="2849131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39A112-C2EF-FC79-F17E-B12A175A8C1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3E922F-C110-43DF-1939-C5C5675E9A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AF7EF3-2978-7536-16EF-1C40FEF98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D641EF-FE31-053C-360C-1A0F4B85C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403729E-39E3-8018-3893-583EB5802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1C589CB-3C1E-F302-D679-E9D1999D5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C0749A2-FA99-F912-ED83-9029B87FB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7CF99E69-D5F1-8075-D1E1-540C98364D55}"/>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DSA</a:t>
            </a:r>
          </a:p>
        </p:txBody>
      </p:sp>
      <p:sp>
        <p:nvSpPr>
          <p:cNvPr id="3" name="Sottotitolo 2">
            <a:extLst>
              <a:ext uri="{FF2B5EF4-FFF2-40B4-BE49-F238E27FC236}">
                <a16:creationId xmlns:a16="http://schemas.microsoft.com/office/drawing/2014/main" id="{F170B709-807D-656E-6EF6-D89F80ED9E63}"/>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a:solidFill>
                <a:schemeClr val="tx1"/>
              </a:solidFill>
              <a:latin typeface="+mn-lt"/>
              <a:ea typeface="+mn-ea"/>
              <a:cs typeface="+mn-cs"/>
            </a:endParaRPr>
          </a:p>
          <a:p>
            <a:pPr algn="l"/>
            <a:endParaRPr lang="en-US" kern="120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97C1D02E-833A-07C0-62F8-9255E720792F}"/>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811985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CC2B2A-C033-3F18-860B-DC51D5161FBD}"/>
            </a:ext>
          </a:extLst>
        </p:cNvPr>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58E54ED1-154A-D53B-896E-0DE52DD0A5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9">
            <a:extLst>
              <a:ext uri="{FF2B5EF4-FFF2-40B4-BE49-F238E27FC236}">
                <a16:creationId xmlns:a16="http://schemas.microsoft.com/office/drawing/2014/main" id="{3F19622D-FA45-8F7B-4403-0C973AED3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790084F9-306A-2612-DE5C-DDD1A2EA7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4CF44B91-B9D2-E532-D26E-54A71ABFC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5">
            <a:extLst>
              <a:ext uri="{FF2B5EF4-FFF2-40B4-BE49-F238E27FC236}">
                <a16:creationId xmlns:a16="http://schemas.microsoft.com/office/drawing/2014/main" id="{32B92F7C-D2E1-1110-2CDE-500D48AA4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7">
            <a:extLst>
              <a:ext uri="{FF2B5EF4-FFF2-40B4-BE49-F238E27FC236}">
                <a16:creationId xmlns:a16="http://schemas.microsoft.com/office/drawing/2014/main" id="{2BA2D413-C156-F755-ADC1-FD721FE4F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1B4B6CCD-211B-CDCB-E560-2277D81D9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8F889DC-D3BD-A49B-4B60-C639DECB7EEA}"/>
              </a:ext>
            </a:extLst>
          </p:cNvPr>
          <p:cNvSpPr>
            <a:spLocks noGrp="1"/>
          </p:cNvSpPr>
          <p:nvPr>
            <p:ph type="title"/>
          </p:nvPr>
        </p:nvSpPr>
        <p:spPr>
          <a:xfrm>
            <a:off x="466722" y="586855"/>
            <a:ext cx="3201366" cy="3387497"/>
          </a:xfrm>
        </p:spPr>
        <p:txBody>
          <a:bodyPr anchor="b">
            <a:normAutofit/>
          </a:bodyPr>
          <a:lstStyle/>
          <a:p>
            <a:pPr algn="r"/>
            <a:r>
              <a:rPr lang="it-IT" sz="4000" dirty="0">
                <a:solidFill>
                  <a:srgbClr val="FFFFFF"/>
                </a:solidFill>
              </a:rPr>
              <a:t>PRINCIPALI</a:t>
            </a:r>
            <a:br>
              <a:rPr lang="it-IT" sz="4000" dirty="0">
                <a:solidFill>
                  <a:srgbClr val="FFFFFF"/>
                </a:solidFill>
              </a:rPr>
            </a:br>
            <a:r>
              <a:rPr lang="it-IT" sz="4000" dirty="0">
                <a:solidFill>
                  <a:srgbClr val="FFFFFF"/>
                </a:solidFill>
              </a:rPr>
              <a:t>OBIETTIVI DSA</a:t>
            </a:r>
          </a:p>
        </p:txBody>
      </p:sp>
      <p:sp>
        <p:nvSpPr>
          <p:cNvPr id="3" name="Segnaposto contenuto 2">
            <a:extLst>
              <a:ext uri="{FF2B5EF4-FFF2-40B4-BE49-F238E27FC236}">
                <a16:creationId xmlns:a16="http://schemas.microsoft.com/office/drawing/2014/main" id="{D5653CD7-3E72-87ED-E257-33F14DB387C3}"/>
              </a:ext>
            </a:extLst>
          </p:cNvPr>
          <p:cNvSpPr>
            <a:spLocks noGrp="1"/>
          </p:cNvSpPr>
          <p:nvPr>
            <p:ph idx="1"/>
          </p:nvPr>
        </p:nvSpPr>
        <p:spPr>
          <a:xfrm>
            <a:off x="4503020" y="432315"/>
            <a:ext cx="7220730" cy="5993367"/>
          </a:xfrm>
        </p:spPr>
        <p:txBody>
          <a:bodyPr anchor="ctr">
            <a:normAutofit/>
          </a:bodyPr>
          <a:lstStyle/>
          <a:p>
            <a:pPr marL="0" indent="0" algn="just">
              <a:buNone/>
            </a:pPr>
            <a:r>
              <a:rPr lang="it-IT" sz="2000" dirty="0"/>
              <a:t>Il DSA si applica ai servizi intermediari offerti a destinatari il cui luogo di stabilimento si trova nell’Unione o che sono ubicati nell’Unione. Esempio: servizi DNS; VoIP; VPN; Autorità per il rilascio di certificati digitali; Internet Service Provider (ISP); servizi di posta elettronica; proxy; servizi cloud; </a:t>
            </a:r>
            <a:r>
              <a:rPr lang="it-IT" sz="2000" b="1" dirty="0"/>
              <a:t>motori di ricerca</a:t>
            </a:r>
            <a:r>
              <a:rPr lang="it-IT" sz="2000" dirty="0"/>
              <a:t>; marketplace; </a:t>
            </a:r>
            <a:r>
              <a:rPr lang="it-IT" sz="2000" b="1" dirty="0"/>
              <a:t>piattaforme social</a:t>
            </a:r>
            <a:r>
              <a:rPr lang="it-IT" sz="2000" dirty="0"/>
              <a:t>; ecc.. </a:t>
            </a:r>
          </a:p>
          <a:p>
            <a:pPr marL="0" indent="0" algn="just">
              <a:buNone/>
            </a:pPr>
            <a:endParaRPr lang="it-IT" sz="2000" dirty="0"/>
          </a:p>
          <a:p>
            <a:pPr marL="0" indent="0" algn="just">
              <a:buNone/>
            </a:pPr>
            <a:r>
              <a:rPr lang="it-IT" sz="2000" dirty="0"/>
              <a:t>ART. 3, PAR.1, LETT. I e J</a:t>
            </a:r>
          </a:p>
          <a:p>
            <a:pPr algn="just"/>
            <a:r>
              <a:rPr lang="it-IT" sz="2000" b="1" dirty="0"/>
              <a:t>PIATTAFORMA ONLINE</a:t>
            </a:r>
            <a:r>
              <a:rPr lang="it-IT" sz="2000" dirty="0"/>
              <a:t>:  Servizio di memorizzazione di informazioni che, su richiesta di un destinatario del servizio, memorizza e diffonde informazioni al pubblico. (N.B. i giornali online e i servizi di messaggistica personale non sono visti come una piattaforma online, a meno di gruppi aperti)</a:t>
            </a:r>
            <a:endParaRPr lang="it-IT" sz="2000" b="1" dirty="0"/>
          </a:p>
          <a:p>
            <a:pPr algn="just"/>
            <a:r>
              <a:rPr lang="it-IT" sz="2000" b="1" dirty="0"/>
              <a:t>MOTORE DI RICERCA</a:t>
            </a:r>
            <a:r>
              <a:rPr lang="it-IT" sz="2000" dirty="0"/>
              <a:t>: Servizio intermediario che permette all’utente di formulare domande al fine di effettuare ricerche sulla base di  un’interrogazione su qualsiasi tema sotto forma di parola chiave , richiesta vocale, frase o di altro input, e che restituisce i risultati in qualsiasi formato.</a:t>
            </a:r>
          </a:p>
          <a:p>
            <a:pPr algn="just"/>
            <a:endParaRPr lang="it-IT" sz="2000" dirty="0"/>
          </a:p>
        </p:txBody>
      </p:sp>
    </p:spTree>
    <p:extLst>
      <p:ext uri="{BB962C8B-B14F-4D97-AF65-F5344CB8AC3E}">
        <p14:creationId xmlns:p14="http://schemas.microsoft.com/office/powerpoint/2010/main" val="1971404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D51AC9-D082-D598-6377-73EACCF01EE7}"/>
            </a:ext>
          </a:extLst>
        </p:cNvPr>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0C030DA9-1AA4-8B4D-ABCC-C224031C1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9">
            <a:extLst>
              <a:ext uri="{FF2B5EF4-FFF2-40B4-BE49-F238E27FC236}">
                <a16:creationId xmlns:a16="http://schemas.microsoft.com/office/drawing/2014/main" id="{28785BD8-84BD-155A-FC6A-9C4ACC165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6C95BF82-0F1D-1298-BE8F-09D0049A5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8FC38E83-874E-E6C3-D687-D050E5CDD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5">
            <a:extLst>
              <a:ext uri="{FF2B5EF4-FFF2-40B4-BE49-F238E27FC236}">
                <a16:creationId xmlns:a16="http://schemas.microsoft.com/office/drawing/2014/main" id="{5675543B-D470-72E6-4ACE-C679E3106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7">
            <a:extLst>
              <a:ext uri="{FF2B5EF4-FFF2-40B4-BE49-F238E27FC236}">
                <a16:creationId xmlns:a16="http://schemas.microsoft.com/office/drawing/2014/main" id="{AA4E476E-1695-5244-2E9B-093BEB7F2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3C074F0-AC3E-32C8-A9F7-B63CE7B79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37E2325-25AF-F653-21C4-F09297E7C365}"/>
              </a:ext>
            </a:extLst>
          </p:cNvPr>
          <p:cNvSpPr>
            <a:spLocks noGrp="1"/>
          </p:cNvSpPr>
          <p:nvPr>
            <p:ph type="title"/>
          </p:nvPr>
        </p:nvSpPr>
        <p:spPr>
          <a:xfrm>
            <a:off x="134471" y="586855"/>
            <a:ext cx="3766501" cy="3387497"/>
          </a:xfrm>
        </p:spPr>
        <p:txBody>
          <a:bodyPr anchor="b">
            <a:normAutofit/>
          </a:bodyPr>
          <a:lstStyle/>
          <a:p>
            <a:pPr algn="r"/>
            <a:r>
              <a:rPr lang="it-IT" sz="4000" dirty="0">
                <a:solidFill>
                  <a:srgbClr val="FFFFFF"/>
                </a:solidFill>
              </a:rPr>
              <a:t>CATEGORIE DI</a:t>
            </a:r>
            <a:br>
              <a:rPr lang="it-IT" sz="4000" dirty="0">
                <a:solidFill>
                  <a:srgbClr val="FFFFFF"/>
                </a:solidFill>
              </a:rPr>
            </a:br>
            <a:r>
              <a:rPr lang="it-IT" sz="4000" dirty="0">
                <a:solidFill>
                  <a:srgbClr val="FFFFFF"/>
                </a:solidFill>
              </a:rPr>
              <a:t>INTERMEDIARI</a:t>
            </a:r>
          </a:p>
        </p:txBody>
      </p:sp>
      <p:graphicFrame>
        <p:nvGraphicFramePr>
          <p:cNvPr id="7" name="Diagramma 6">
            <a:extLst>
              <a:ext uri="{FF2B5EF4-FFF2-40B4-BE49-F238E27FC236}">
                <a16:creationId xmlns:a16="http://schemas.microsoft.com/office/drawing/2014/main" id="{7E502DA9-DAF0-A300-2E6F-1764C1DFE5F7}"/>
              </a:ext>
            </a:extLst>
          </p:cNvPr>
          <p:cNvGraphicFramePr/>
          <p:nvPr>
            <p:extLst>
              <p:ext uri="{D42A27DB-BD31-4B8C-83A1-F6EECF244321}">
                <p14:modId xmlns:p14="http://schemas.microsoft.com/office/powerpoint/2010/main" val="1299149622"/>
              </p:ext>
            </p:extLst>
          </p:nvPr>
        </p:nvGraphicFramePr>
        <p:xfrm>
          <a:off x="4169249" y="242438"/>
          <a:ext cx="7678270" cy="4840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asellaDiTesto 7">
            <a:extLst>
              <a:ext uri="{FF2B5EF4-FFF2-40B4-BE49-F238E27FC236}">
                <a16:creationId xmlns:a16="http://schemas.microsoft.com/office/drawing/2014/main" id="{6514523C-4A01-3BB9-0E16-722246114105}"/>
              </a:ext>
            </a:extLst>
          </p:cNvPr>
          <p:cNvSpPr txBox="1"/>
          <p:nvPr/>
        </p:nvSpPr>
        <p:spPr>
          <a:xfrm>
            <a:off x="4166202" y="5232025"/>
            <a:ext cx="7681317" cy="1477328"/>
          </a:xfrm>
          <a:prstGeom prst="rect">
            <a:avLst/>
          </a:prstGeom>
          <a:noFill/>
        </p:spPr>
        <p:txBody>
          <a:bodyPr wrap="square" rtlCol="0">
            <a:spAutoFit/>
          </a:bodyPr>
          <a:lstStyle/>
          <a:p>
            <a:r>
              <a:rPr lang="it-IT" b="1" dirty="0" err="1"/>
              <a:t>VLOP</a:t>
            </a:r>
            <a:r>
              <a:rPr lang="it-IT" dirty="0" err="1"/>
              <a:t>s</a:t>
            </a:r>
            <a:r>
              <a:rPr lang="it-IT" dirty="0"/>
              <a:t> (</a:t>
            </a:r>
            <a:r>
              <a:rPr lang="it-IT" b="1" dirty="0" err="1"/>
              <a:t>Very</a:t>
            </a:r>
            <a:r>
              <a:rPr lang="it-IT" b="1" dirty="0"/>
              <a:t> Large Online </a:t>
            </a:r>
            <a:r>
              <a:rPr lang="it-IT" b="1" dirty="0" err="1"/>
              <a:t>Platforms</a:t>
            </a:r>
            <a:r>
              <a:rPr lang="it-IT" dirty="0"/>
              <a:t>): Alibaba Express; Amazon Store; Apple </a:t>
            </a:r>
            <a:r>
              <a:rPr lang="it-IT" dirty="0" err="1"/>
              <a:t>AppStore</a:t>
            </a:r>
            <a:r>
              <a:rPr lang="it-IT" dirty="0"/>
              <a:t>; Booking.com; Facebook; Google Maps; Google Play; Google Shopping; Instagram; Linkedin;  Pinterest; Snapchat; TikTok; Twitter; Wikipedia; </a:t>
            </a:r>
            <a:r>
              <a:rPr lang="it-IT" dirty="0" err="1"/>
              <a:t>Youtube</a:t>
            </a:r>
            <a:r>
              <a:rPr lang="it-IT" dirty="0"/>
              <a:t>; Zalando.</a:t>
            </a:r>
          </a:p>
          <a:p>
            <a:r>
              <a:rPr lang="it-IT" b="1" dirty="0" err="1"/>
              <a:t>VLOSE</a:t>
            </a:r>
            <a:r>
              <a:rPr lang="it-IT" dirty="0" err="1"/>
              <a:t>s</a:t>
            </a:r>
            <a:r>
              <a:rPr lang="it-IT" dirty="0"/>
              <a:t> (</a:t>
            </a:r>
            <a:r>
              <a:rPr lang="it-IT" b="1" dirty="0" err="1"/>
              <a:t>Very</a:t>
            </a:r>
            <a:r>
              <a:rPr lang="it-IT" b="1" dirty="0"/>
              <a:t> Large Online </a:t>
            </a:r>
            <a:r>
              <a:rPr lang="it-IT" b="1" dirty="0" err="1"/>
              <a:t>Search</a:t>
            </a:r>
            <a:r>
              <a:rPr lang="it-IT" b="1" dirty="0"/>
              <a:t> </a:t>
            </a:r>
            <a:r>
              <a:rPr lang="it-IT" b="1" dirty="0" err="1"/>
              <a:t>Engines</a:t>
            </a:r>
            <a:r>
              <a:rPr lang="it-IT" dirty="0"/>
              <a:t>): Bing; Google </a:t>
            </a:r>
            <a:r>
              <a:rPr lang="it-IT" dirty="0" err="1"/>
              <a:t>Search</a:t>
            </a:r>
            <a:r>
              <a:rPr lang="it-IT" dirty="0"/>
              <a:t>. </a:t>
            </a:r>
          </a:p>
        </p:txBody>
      </p:sp>
    </p:spTree>
    <p:extLst>
      <p:ext uri="{BB962C8B-B14F-4D97-AF65-F5344CB8AC3E}">
        <p14:creationId xmlns:p14="http://schemas.microsoft.com/office/powerpoint/2010/main" val="2644763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FDCCD8-C6D6-A31C-B555-ACF5F44A446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B35018-82B0-D5E8-4972-30F899460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C4BFA5-41FD-67AC-AAC6-37E6F3C6C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807460-11B9-AC2A-663C-6C4DB1FB12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DB30EA0-CEE3-3C84-DFA1-D6F6E87C6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36557D5-4959-80F8-5D88-AA9EBC58DA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3B58F28-FF17-7BC3-D3D5-A80A5DCBBECF}"/>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OBBLIGHI</a:t>
            </a:r>
          </a:p>
        </p:txBody>
      </p:sp>
      <p:graphicFrame>
        <p:nvGraphicFramePr>
          <p:cNvPr id="6" name="Tabella 5">
            <a:extLst>
              <a:ext uri="{FF2B5EF4-FFF2-40B4-BE49-F238E27FC236}">
                <a16:creationId xmlns:a16="http://schemas.microsoft.com/office/drawing/2014/main" id="{D148EB3A-85C3-BD4F-BA13-0677A9E3DC7C}"/>
              </a:ext>
            </a:extLst>
          </p:cNvPr>
          <p:cNvGraphicFramePr>
            <a:graphicFrameLocks noGrp="1"/>
          </p:cNvGraphicFramePr>
          <p:nvPr>
            <p:extLst>
              <p:ext uri="{D42A27DB-BD31-4B8C-83A1-F6EECF244321}">
                <p14:modId xmlns:p14="http://schemas.microsoft.com/office/powerpoint/2010/main" val="733377533"/>
              </p:ext>
            </p:extLst>
          </p:nvPr>
        </p:nvGraphicFramePr>
        <p:xfrm>
          <a:off x="188259" y="1629029"/>
          <a:ext cx="11837979" cy="5079113"/>
        </p:xfrm>
        <a:graphic>
          <a:graphicData uri="http://schemas.openxmlformats.org/drawingml/2006/table">
            <a:tbl>
              <a:tblPr firstRow="1" bandRow="1">
                <a:tableStyleId>{5C22544A-7EE6-4342-B048-85BDC9FD1C3A}</a:tableStyleId>
              </a:tblPr>
              <a:tblGrid>
                <a:gridCol w="3719660">
                  <a:extLst>
                    <a:ext uri="{9D8B030D-6E8A-4147-A177-3AD203B41FA5}">
                      <a16:colId xmlns:a16="http://schemas.microsoft.com/office/drawing/2014/main" val="790818314"/>
                    </a:ext>
                  </a:extLst>
                </a:gridCol>
                <a:gridCol w="1261987">
                  <a:extLst>
                    <a:ext uri="{9D8B030D-6E8A-4147-A177-3AD203B41FA5}">
                      <a16:colId xmlns:a16="http://schemas.microsoft.com/office/drawing/2014/main" val="3985992810"/>
                    </a:ext>
                  </a:extLst>
                </a:gridCol>
                <a:gridCol w="2373083">
                  <a:extLst>
                    <a:ext uri="{9D8B030D-6E8A-4147-A177-3AD203B41FA5}">
                      <a16:colId xmlns:a16="http://schemas.microsoft.com/office/drawing/2014/main" val="2465630905"/>
                    </a:ext>
                  </a:extLst>
                </a:gridCol>
                <a:gridCol w="2249627">
                  <a:extLst>
                    <a:ext uri="{9D8B030D-6E8A-4147-A177-3AD203B41FA5}">
                      <a16:colId xmlns:a16="http://schemas.microsoft.com/office/drawing/2014/main" val="2118494420"/>
                    </a:ext>
                  </a:extLst>
                </a:gridCol>
                <a:gridCol w="2233622">
                  <a:extLst>
                    <a:ext uri="{9D8B030D-6E8A-4147-A177-3AD203B41FA5}">
                      <a16:colId xmlns:a16="http://schemas.microsoft.com/office/drawing/2014/main" val="807389100"/>
                    </a:ext>
                  </a:extLst>
                </a:gridCol>
              </a:tblGrid>
              <a:tr h="251425">
                <a:tc>
                  <a:txBody>
                    <a:bodyPr/>
                    <a:lstStyle/>
                    <a:p>
                      <a:pPr algn="ctr"/>
                      <a:r>
                        <a:rPr lang="it-IT" dirty="0"/>
                        <a:t>OBBLIGHI PRINCIPALI</a:t>
                      </a:r>
                    </a:p>
                  </a:txBody>
                  <a:tcPr anchor="ctr"/>
                </a:tc>
                <a:tc>
                  <a:txBody>
                    <a:bodyPr/>
                    <a:lstStyle/>
                    <a:p>
                      <a:pPr algn="ctr"/>
                      <a:r>
                        <a:rPr lang="it-IT" sz="1600" dirty="0"/>
                        <a:t>VLOP</a:t>
                      </a:r>
                    </a:p>
                  </a:txBody>
                  <a:tcPr anchor="ctr"/>
                </a:tc>
                <a:tc>
                  <a:txBody>
                    <a:bodyPr/>
                    <a:lstStyle/>
                    <a:p>
                      <a:pPr algn="ctr"/>
                      <a:r>
                        <a:rPr lang="it-IT" sz="1600" dirty="0"/>
                        <a:t>ONLINE PLATFORMS</a:t>
                      </a:r>
                    </a:p>
                  </a:txBody>
                  <a:tcPr anchor="ctr"/>
                </a:tc>
                <a:tc>
                  <a:txBody>
                    <a:bodyPr/>
                    <a:lstStyle/>
                    <a:p>
                      <a:pPr algn="ctr"/>
                      <a:r>
                        <a:rPr lang="it-IT" sz="1600" dirty="0"/>
                        <a:t>HOSTING SERVICES</a:t>
                      </a:r>
                    </a:p>
                  </a:txBody>
                  <a:tcPr anchor="ctr"/>
                </a:tc>
                <a:tc>
                  <a:txBody>
                    <a:bodyPr/>
                    <a:lstStyle/>
                    <a:p>
                      <a:pPr algn="ctr"/>
                      <a:r>
                        <a:rPr lang="it-IT" sz="1600" dirty="0"/>
                        <a:t>ALL INTERMEDIARIES</a:t>
                      </a:r>
                    </a:p>
                  </a:txBody>
                  <a:tcPr anchor="ctr"/>
                </a:tc>
                <a:extLst>
                  <a:ext uri="{0D108BD9-81ED-4DB2-BD59-A6C34878D82A}">
                    <a16:rowId xmlns:a16="http://schemas.microsoft.com/office/drawing/2014/main" val="495225731"/>
                  </a:ext>
                </a:extLst>
              </a:tr>
              <a:tr h="268344">
                <a:tc>
                  <a:txBody>
                    <a:bodyPr/>
                    <a:lstStyle/>
                    <a:p>
                      <a:r>
                        <a:rPr lang="it-IT" sz="1600" dirty="0"/>
                        <a:t>Report di trasparenza</a:t>
                      </a:r>
                    </a:p>
                  </a:txBody>
                  <a:tcPr/>
                </a:tc>
                <a:tc>
                  <a:txBody>
                    <a:bodyPr/>
                    <a:lstStyle/>
                    <a:p>
                      <a:pPr marL="0" indent="0" algn="ctr">
                        <a:buFont typeface="Arial" panose="020B0604020202020204" pitchFamily="34" charset="0"/>
                        <a:buNone/>
                      </a:pPr>
                      <a:r>
                        <a:rPr lang="it-IT" sz="1600" dirty="0"/>
                        <a:t>✓</a:t>
                      </a:r>
                    </a:p>
                  </a:txBody>
                  <a:tcPr anchor="ct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r>
                        <a:rPr lang="it-IT" sz="1600" dirty="0"/>
                        <a:t>✓</a:t>
                      </a:r>
                    </a:p>
                  </a:txBody>
                  <a:tcPr anchor="ctr"/>
                </a:tc>
                <a:extLst>
                  <a:ext uri="{0D108BD9-81ED-4DB2-BD59-A6C34878D82A}">
                    <a16:rowId xmlns:a16="http://schemas.microsoft.com/office/drawing/2014/main" val="3793192965"/>
                  </a:ext>
                </a:extLst>
              </a:tr>
              <a:tr h="469603">
                <a:tc>
                  <a:txBody>
                    <a:bodyPr/>
                    <a:lstStyle/>
                    <a:p>
                      <a:r>
                        <a:rPr lang="it-IT" sz="1600" dirty="0"/>
                        <a:t>Cooperazione con le autorità nazionali</a:t>
                      </a:r>
                    </a:p>
                  </a:txBody>
                  <a:tcP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r>
                        <a:rPr lang="it-IT" sz="1600" dirty="0"/>
                        <a:t>✓</a:t>
                      </a:r>
                    </a:p>
                  </a:txBody>
                  <a:tcPr anchor="ctr"/>
                </a:tc>
                <a:extLst>
                  <a:ext uri="{0D108BD9-81ED-4DB2-BD59-A6C34878D82A}">
                    <a16:rowId xmlns:a16="http://schemas.microsoft.com/office/drawing/2014/main" val="2951633730"/>
                  </a:ext>
                </a:extLst>
              </a:tr>
              <a:tr h="469603">
                <a:tc>
                  <a:txBody>
                    <a:bodyPr/>
                    <a:lstStyle/>
                    <a:p>
                      <a:r>
                        <a:rPr lang="it-IT" sz="1600" dirty="0"/>
                        <a:t>Rappresentanti legali e punti di contatto</a:t>
                      </a:r>
                    </a:p>
                  </a:txBody>
                  <a:tcP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r>
                        <a:rPr lang="it-IT" sz="1600" dirty="0"/>
                        <a:t>✓</a:t>
                      </a:r>
                    </a:p>
                  </a:txBody>
                  <a:tcPr anchor="ctr"/>
                </a:tc>
                <a:extLst>
                  <a:ext uri="{0D108BD9-81ED-4DB2-BD59-A6C34878D82A}">
                    <a16:rowId xmlns:a16="http://schemas.microsoft.com/office/drawing/2014/main" val="851051652"/>
                  </a:ext>
                </a:extLst>
              </a:tr>
              <a:tr h="469603">
                <a:tc>
                  <a:txBody>
                    <a:bodyPr/>
                    <a:lstStyle/>
                    <a:p>
                      <a:r>
                        <a:rPr lang="it-IT" sz="1600" dirty="0"/>
                        <a:t>Segnalazione di atti criminali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a:t>
                      </a:r>
                    </a:p>
                  </a:txBody>
                  <a:tcPr anchor="ctr"/>
                </a:tc>
                <a:tc>
                  <a:txBody>
                    <a:bodyPr/>
                    <a:lstStyle/>
                    <a:p>
                      <a:pPr algn="ctr"/>
                      <a:endParaRPr lang="it-IT" sz="1600" dirty="0"/>
                    </a:p>
                  </a:txBody>
                  <a:tcPr anchor="ctr"/>
                </a:tc>
                <a:extLst>
                  <a:ext uri="{0D108BD9-81ED-4DB2-BD59-A6C34878D82A}">
                    <a16:rowId xmlns:a16="http://schemas.microsoft.com/office/drawing/2014/main" val="1451908589"/>
                  </a:ext>
                </a:extLst>
              </a:tr>
              <a:tr h="469603">
                <a:tc>
                  <a:txBody>
                    <a:bodyPr/>
                    <a:lstStyle/>
                    <a:p>
                      <a:r>
                        <a:rPr lang="it-IT" sz="1600" dirty="0" err="1"/>
                        <a:t>Trusted</a:t>
                      </a:r>
                      <a:r>
                        <a:rPr lang="it-IT" sz="1600" dirty="0"/>
                        <a:t> </a:t>
                      </a:r>
                      <a:r>
                        <a:rPr lang="it-IT" sz="1600" dirty="0" err="1"/>
                        <a:t>Flaggers</a:t>
                      </a:r>
                      <a:r>
                        <a:rPr lang="it-IT" sz="1600" dirty="0"/>
                        <a:t> (segnalatori attendibili)</a:t>
                      </a:r>
                    </a:p>
                  </a:txBody>
                  <a:tcP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endParaRPr lang="it-IT" sz="1600" dirty="0"/>
                    </a:p>
                  </a:txBody>
                  <a:tcPr anchor="ctr"/>
                </a:tc>
                <a:tc>
                  <a:txBody>
                    <a:bodyPr/>
                    <a:lstStyle/>
                    <a:p>
                      <a:pPr algn="ctr"/>
                      <a:endParaRPr lang="it-IT" sz="1600"/>
                    </a:p>
                  </a:txBody>
                  <a:tcPr anchor="ctr"/>
                </a:tc>
                <a:extLst>
                  <a:ext uri="{0D108BD9-81ED-4DB2-BD59-A6C34878D82A}">
                    <a16:rowId xmlns:a16="http://schemas.microsoft.com/office/drawing/2014/main" val="2883246163"/>
                  </a:ext>
                </a:extLst>
              </a:tr>
              <a:tr h="268344">
                <a:tc>
                  <a:txBody>
                    <a:bodyPr/>
                    <a:lstStyle/>
                    <a:p>
                      <a:r>
                        <a:rPr lang="it-IT" sz="1600" dirty="0"/>
                        <a:t>Proibizione di Dark Patterns</a:t>
                      </a:r>
                    </a:p>
                  </a:txBody>
                  <a:tcP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endParaRPr lang="it-IT" sz="1600" dirty="0"/>
                    </a:p>
                  </a:txBody>
                  <a:tcPr anchor="ctr"/>
                </a:tc>
                <a:tc>
                  <a:txBody>
                    <a:bodyPr/>
                    <a:lstStyle/>
                    <a:p>
                      <a:pPr algn="ctr"/>
                      <a:endParaRPr lang="it-IT" sz="1600" dirty="0"/>
                    </a:p>
                  </a:txBody>
                  <a:tcPr anchor="ctr"/>
                </a:tc>
                <a:extLst>
                  <a:ext uri="{0D108BD9-81ED-4DB2-BD59-A6C34878D82A}">
                    <a16:rowId xmlns:a16="http://schemas.microsoft.com/office/drawing/2014/main" val="2272709704"/>
                  </a:ext>
                </a:extLst>
              </a:tr>
              <a:tr h="469603">
                <a:tc>
                  <a:txBody>
                    <a:bodyPr/>
                    <a:lstStyle/>
                    <a:p>
                      <a:r>
                        <a:rPr lang="it-IT" sz="1600" dirty="0"/>
                        <a:t>Misure contro la disinformazione e informazioni illegali </a:t>
                      </a:r>
                    </a:p>
                  </a:txBody>
                  <a:tcP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endParaRPr lang="it-IT" sz="1600" dirty="0"/>
                    </a:p>
                  </a:txBody>
                  <a:tcPr anchor="ctr"/>
                </a:tc>
                <a:tc>
                  <a:txBody>
                    <a:bodyPr/>
                    <a:lstStyle/>
                    <a:p>
                      <a:pPr algn="ctr"/>
                      <a:endParaRPr lang="it-IT" sz="1600" dirty="0"/>
                    </a:p>
                  </a:txBody>
                  <a:tcPr anchor="ctr"/>
                </a:tc>
                <a:extLst>
                  <a:ext uri="{0D108BD9-81ED-4DB2-BD59-A6C34878D82A}">
                    <a16:rowId xmlns:a16="http://schemas.microsoft.com/office/drawing/2014/main" val="1487186662"/>
                  </a:ext>
                </a:extLst>
              </a:tr>
              <a:tr h="469603">
                <a:tc>
                  <a:txBody>
                    <a:bodyPr/>
                    <a:lstStyle/>
                    <a:p>
                      <a:r>
                        <a:rPr lang="it-IT" sz="1600" dirty="0" err="1"/>
                        <a:t>Ban</a:t>
                      </a:r>
                      <a:r>
                        <a:rPr lang="it-IT" sz="1600" dirty="0"/>
                        <a:t> di pubblicità basata su speciali categorie di dati personali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600" dirty="0"/>
                        <a:t>✓</a:t>
                      </a:r>
                    </a:p>
                  </a:txBody>
                  <a:tcPr anchor="ctr"/>
                </a:tc>
                <a:tc>
                  <a:txBody>
                    <a:bodyPr/>
                    <a:lstStyle/>
                    <a:p>
                      <a:pPr algn="ctr"/>
                      <a:endParaRPr lang="it-IT" sz="1600" dirty="0"/>
                    </a:p>
                  </a:txBody>
                  <a:tcPr anchor="ctr"/>
                </a:tc>
                <a:tc>
                  <a:txBody>
                    <a:bodyPr/>
                    <a:lstStyle/>
                    <a:p>
                      <a:pPr algn="ctr"/>
                      <a:endParaRPr lang="it-IT" sz="1600" dirty="0"/>
                    </a:p>
                  </a:txBody>
                  <a:tcPr anchor="ctr"/>
                </a:tc>
                <a:extLst>
                  <a:ext uri="{0D108BD9-81ED-4DB2-BD59-A6C34878D82A}">
                    <a16:rowId xmlns:a16="http://schemas.microsoft.com/office/drawing/2014/main" val="3479312232"/>
                  </a:ext>
                </a:extLst>
              </a:tr>
              <a:tr h="268344">
                <a:tc>
                  <a:txBody>
                    <a:bodyPr/>
                    <a:lstStyle/>
                    <a:p>
                      <a:r>
                        <a:rPr lang="it-IT" sz="1600" dirty="0"/>
                        <a:t>Trasparenza nella pubblicità</a:t>
                      </a:r>
                    </a:p>
                  </a:txBody>
                  <a:tcPr/>
                </a:tc>
                <a:tc>
                  <a:txBody>
                    <a:bodyPr/>
                    <a:lstStyle/>
                    <a:p>
                      <a:pPr algn="ctr"/>
                      <a:r>
                        <a:rPr lang="it-IT" sz="1600" dirty="0"/>
                        <a:t>✓</a:t>
                      </a:r>
                    </a:p>
                  </a:txBody>
                  <a:tcPr anchor="ctr"/>
                </a:tc>
                <a:tc>
                  <a:txBody>
                    <a:bodyPr/>
                    <a:lstStyle/>
                    <a:p>
                      <a:pPr algn="ctr"/>
                      <a:r>
                        <a:rPr lang="it-IT" sz="1600" dirty="0"/>
                        <a:t>✓</a:t>
                      </a:r>
                    </a:p>
                  </a:txBody>
                  <a:tcPr anchor="ctr"/>
                </a:tc>
                <a:tc>
                  <a:txBody>
                    <a:bodyPr/>
                    <a:lstStyle/>
                    <a:p>
                      <a:pPr algn="ctr"/>
                      <a:endParaRPr lang="it-IT" sz="1600" dirty="0"/>
                    </a:p>
                  </a:txBody>
                  <a:tcPr anchor="ctr"/>
                </a:tc>
                <a:tc>
                  <a:txBody>
                    <a:bodyPr/>
                    <a:lstStyle/>
                    <a:p>
                      <a:pPr algn="ctr"/>
                      <a:endParaRPr lang="it-IT" sz="1600" dirty="0"/>
                    </a:p>
                  </a:txBody>
                  <a:tcPr anchor="ctr"/>
                </a:tc>
                <a:extLst>
                  <a:ext uri="{0D108BD9-81ED-4DB2-BD59-A6C34878D82A}">
                    <a16:rowId xmlns:a16="http://schemas.microsoft.com/office/drawing/2014/main" val="525610119"/>
                  </a:ext>
                </a:extLst>
              </a:tr>
              <a:tr h="670861">
                <a:tc>
                  <a:txBody>
                    <a:bodyPr/>
                    <a:lstStyle/>
                    <a:p>
                      <a:r>
                        <a:rPr lang="it-IT" sz="1600" dirty="0"/>
                        <a:t>Gli utenti possono non consentire la profilazione (OPT OUT)</a:t>
                      </a:r>
                    </a:p>
                  </a:txBody>
                  <a:tcPr/>
                </a:tc>
                <a:tc>
                  <a:txBody>
                    <a:bodyPr/>
                    <a:lstStyle/>
                    <a:p>
                      <a:pPr algn="ctr"/>
                      <a:r>
                        <a:rPr lang="it-IT" sz="1600" dirty="0"/>
                        <a:t>✓</a:t>
                      </a:r>
                    </a:p>
                  </a:txBody>
                  <a:tcPr anchor="ctr"/>
                </a:tc>
                <a:tc>
                  <a:txBody>
                    <a:bodyPr/>
                    <a:lstStyle/>
                    <a:p>
                      <a:pPr algn="ctr"/>
                      <a:endParaRPr lang="it-IT" sz="1600" dirty="0"/>
                    </a:p>
                  </a:txBody>
                  <a:tcPr anchor="ctr"/>
                </a:tc>
                <a:tc>
                  <a:txBody>
                    <a:bodyPr/>
                    <a:lstStyle/>
                    <a:p>
                      <a:pPr algn="ctr"/>
                      <a:endParaRPr lang="it-IT" sz="1600" dirty="0"/>
                    </a:p>
                  </a:txBody>
                  <a:tcPr anchor="ctr"/>
                </a:tc>
                <a:tc>
                  <a:txBody>
                    <a:bodyPr/>
                    <a:lstStyle/>
                    <a:p>
                      <a:pPr algn="ctr"/>
                      <a:endParaRPr lang="it-IT" sz="1600" dirty="0"/>
                    </a:p>
                  </a:txBody>
                  <a:tcPr anchor="ctr"/>
                </a:tc>
                <a:extLst>
                  <a:ext uri="{0D108BD9-81ED-4DB2-BD59-A6C34878D82A}">
                    <a16:rowId xmlns:a16="http://schemas.microsoft.com/office/drawing/2014/main" val="4162231267"/>
                  </a:ext>
                </a:extLst>
              </a:tr>
            </a:tbl>
          </a:graphicData>
        </a:graphic>
      </p:graphicFrame>
    </p:spTree>
    <p:extLst>
      <p:ext uri="{BB962C8B-B14F-4D97-AF65-F5344CB8AC3E}">
        <p14:creationId xmlns:p14="http://schemas.microsoft.com/office/powerpoint/2010/main" val="3896519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D62700-8EDA-C963-597D-A74893355FD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70C39B-6712-DA4A-BB9B-6930819F9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F126873-C83A-2DB3-9D02-89BA86DFB2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6843B1-01CF-400B-43B8-0F8B4C313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B1DA2A-08C5-D880-10BE-6602EAFD0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DEC8AFB-D051-46A3-0F29-6B5CA4D8C3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AAA1AE-6369-2F62-5566-8991B9661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70E261B6-6F7A-D86A-6C06-AE7B12AB9DD7}"/>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it-IT" sz="4800" dirty="0">
                <a:solidFill>
                  <a:srgbClr val="FFFFFF"/>
                </a:solidFill>
              </a:rPr>
              <a:t>PUBBLCITÀ E CONTENUTI NELLE PIATTAFORME ONLINE</a:t>
            </a:r>
            <a:endParaRPr lang="en-US" sz="4800" kern="1200" dirty="0">
              <a:solidFill>
                <a:srgbClr val="FFFFFF"/>
              </a:solidFill>
              <a:latin typeface="+mj-lt"/>
              <a:ea typeface="+mj-ea"/>
              <a:cs typeface="+mj-cs"/>
            </a:endParaRPr>
          </a:p>
        </p:txBody>
      </p:sp>
      <p:sp>
        <p:nvSpPr>
          <p:cNvPr id="3" name="Sottotitolo 2">
            <a:extLst>
              <a:ext uri="{FF2B5EF4-FFF2-40B4-BE49-F238E27FC236}">
                <a16:creationId xmlns:a16="http://schemas.microsoft.com/office/drawing/2014/main" id="{EB0D35FA-6FE9-1EEF-3211-6FA00F4B9976}"/>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8F4348F3-FDFE-ADD8-B59B-7272C9CC3A85}"/>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889306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41995D-9D37-C023-2809-AA627AEB28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9527E7-5536-3B66-7494-134AE3315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C8F508-6A49-6E62-7320-E4493D675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ECD06B-F491-F82D-196B-30A1ADFC6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D79CE74-A101-A1AB-34E6-F58FE47C6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92B2608-E624-B94D-4DBB-79E07FA55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53526EC-B59D-51E1-A5D0-5CCB75F140DF}"/>
              </a:ext>
            </a:extLst>
          </p:cNvPr>
          <p:cNvSpPr>
            <a:spLocks noGrp="1"/>
          </p:cNvSpPr>
          <p:nvPr>
            <p:ph type="title"/>
          </p:nvPr>
        </p:nvSpPr>
        <p:spPr>
          <a:xfrm>
            <a:off x="1371599" y="294538"/>
            <a:ext cx="9895951" cy="1033669"/>
          </a:xfrm>
        </p:spPr>
        <p:txBody>
          <a:bodyPr>
            <a:normAutofit fontScale="90000"/>
          </a:bodyPr>
          <a:lstStyle/>
          <a:p>
            <a:pPr>
              <a:lnSpc>
                <a:spcPct val="90000"/>
              </a:lnSpc>
              <a:spcBef>
                <a:spcPct val="0"/>
              </a:spcBef>
              <a:spcAft>
                <a:spcPts val="600"/>
              </a:spcAft>
            </a:pPr>
            <a:r>
              <a:rPr lang="it-IT" sz="4000" dirty="0">
                <a:solidFill>
                  <a:srgbClr val="FFFFFF"/>
                </a:solidFill>
              </a:rPr>
              <a:t>PUBBLCITÀ E CONTENUTI NELLE PIATTAFORME ONLINE</a:t>
            </a:r>
            <a:endParaRPr lang="en-US" sz="4000" kern="1200" dirty="0">
              <a:solidFill>
                <a:srgbClr val="FFFFFF"/>
              </a:solidFill>
              <a:latin typeface="+mj-lt"/>
              <a:ea typeface="+mj-ea"/>
              <a:cs typeface="+mj-cs"/>
            </a:endParaRPr>
          </a:p>
        </p:txBody>
      </p:sp>
      <p:sp>
        <p:nvSpPr>
          <p:cNvPr id="15" name="CasellaDiTesto 14">
            <a:extLst>
              <a:ext uri="{FF2B5EF4-FFF2-40B4-BE49-F238E27FC236}">
                <a16:creationId xmlns:a16="http://schemas.microsoft.com/office/drawing/2014/main" id="{1CF2D9DE-969C-6873-FEB0-BBD814EF7AF0}"/>
              </a:ext>
            </a:extLst>
          </p:cNvPr>
          <p:cNvSpPr txBox="1"/>
          <p:nvPr/>
        </p:nvSpPr>
        <p:spPr>
          <a:xfrm>
            <a:off x="375039" y="1719337"/>
            <a:ext cx="11441918" cy="5016758"/>
          </a:xfrm>
          <a:prstGeom prst="rect">
            <a:avLst/>
          </a:prstGeom>
          <a:noFill/>
        </p:spPr>
        <p:txBody>
          <a:bodyPr wrap="square" rtlCol="0">
            <a:spAutoFit/>
          </a:bodyPr>
          <a:lstStyle/>
          <a:p>
            <a:pPr marL="342900" indent="-342900" algn="just">
              <a:buFont typeface="Arial" panose="020B0604020202020204" pitchFamily="34" charset="0"/>
              <a:buChar char="•"/>
            </a:pPr>
            <a:r>
              <a:rPr lang="it-IT" sz="2000" b="1" dirty="0"/>
              <a:t>DIVIETO DI ANNUNCI MIRATI CHE SFRUTTANO LE VULNERABILITÀ DEGLI UTENTI:</a:t>
            </a:r>
          </a:p>
          <a:p>
            <a:pPr marL="800100" lvl="1" indent="-342900" algn="just">
              <a:buFont typeface="Arial" panose="020B0604020202020204" pitchFamily="34" charset="0"/>
              <a:buChar char="•"/>
            </a:pPr>
            <a:r>
              <a:rPr lang="it-IT" sz="2000" dirty="0"/>
              <a:t>Divieto di pubblicità mirata ai minori basata sulla profilazione (la norma non obbliga i fornitori di piattaforma a trattare dati personali ulteriori per valutare se il destinatario del servizio sia minore);</a:t>
            </a:r>
          </a:p>
          <a:p>
            <a:pPr marL="800100" lvl="1" indent="-342900" algn="just">
              <a:buFont typeface="Arial" panose="020B0604020202020204" pitchFamily="34" charset="0"/>
              <a:buChar char="•"/>
            </a:pPr>
            <a:r>
              <a:rPr lang="it-IT" sz="2000" dirty="0"/>
              <a:t>Divieto di pubblicità mirata basata sulla profilazione che includa categorie speciali di dati personali, come l’etnia, le opinioni politiche, i dati sulla salute, l’orientamento sessuale, ecc.</a:t>
            </a:r>
          </a:p>
          <a:p>
            <a:pPr lvl="1" algn="just"/>
            <a:endParaRPr lang="it-IT" sz="2000" dirty="0"/>
          </a:p>
          <a:p>
            <a:pPr marL="342900" indent="-342900" algn="just">
              <a:buFont typeface="Arial" panose="020B0604020202020204" pitchFamily="34" charset="0"/>
              <a:buChar char="•"/>
            </a:pPr>
            <a:r>
              <a:rPr lang="it-IT" sz="2000" b="1" dirty="0"/>
              <a:t>TRASPARENZA PER L’UTENTE:</a:t>
            </a:r>
          </a:p>
          <a:p>
            <a:pPr marL="800100" lvl="1" indent="-342900" algn="just">
              <a:buFont typeface="Arial" panose="020B0604020202020204" pitchFamily="34" charset="0"/>
              <a:buChar char="•"/>
            </a:pPr>
            <a:r>
              <a:rPr lang="it-IT" sz="2000" dirty="0"/>
              <a:t>Trasparenza nella presentazione degli annunci: marcature evidenti, identità dell’inserzionista, spiegazione del motivo per cui all’utente viene mostrato quell’annuncio;</a:t>
            </a:r>
          </a:p>
          <a:p>
            <a:pPr marL="800100" lvl="1" indent="-342900" algn="just">
              <a:buFont typeface="Arial" panose="020B0604020202020204" pitchFamily="34" charset="0"/>
              <a:buChar char="•"/>
            </a:pPr>
            <a:r>
              <a:rPr lang="it-IT" sz="2000" dirty="0"/>
              <a:t>Marcature evidenti per  i contenuti sponsorizzati.</a:t>
            </a:r>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r>
              <a:rPr lang="it-IT" sz="2000" b="1" dirty="0"/>
              <a:t>GESTIONE DELLA TIMELINE</a:t>
            </a:r>
            <a:r>
              <a:rPr lang="it-IT" sz="2000" dirty="0"/>
              <a:t>:</a:t>
            </a:r>
          </a:p>
          <a:p>
            <a:pPr marL="800100" lvl="1" indent="-342900" algn="just">
              <a:buFont typeface="Arial" panose="020B0604020202020204" pitchFamily="34" charset="0"/>
              <a:buChar char="•"/>
            </a:pPr>
            <a:r>
              <a:rPr lang="it-IT" sz="2000" dirty="0"/>
              <a:t>Indicazione nei T&amp;C (Temini e Condizioni) dei principali parametri utilizzati per la creazione delle timeline dei contenuti e delle opzioni disponibili per modificare o influenzare i parametri. Obbligo di timeline alternative alla timeline su profilazione (ad esempio: timeline cronologica)</a:t>
            </a:r>
          </a:p>
        </p:txBody>
      </p:sp>
    </p:spTree>
    <p:extLst>
      <p:ext uri="{BB962C8B-B14F-4D97-AF65-F5344CB8AC3E}">
        <p14:creationId xmlns:p14="http://schemas.microsoft.com/office/powerpoint/2010/main" val="2023744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8C34CD-0080-880A-D984-43878A35A99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0801D9-3159-30EA-E282-FC014B4B2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1E6117-F314-06FC-AFB2-52FA1D6DC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41554A3-D3A9-12BF-FFF9-28DCF0BD6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5038323-E625-9CD9-EA2C-ECFB8493D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254058-BCC3-5A36-8100-6E3402F01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2C442BF-08CA-228D-A9B9-A7B364D1B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F0189AEE-86C6-B985-4161-D5670253FA8F}"/>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it-IT" sz="4800" dirty="0">
                <a:solidFill>
                  <a:srgbClr val="FFFFFF"/>
                </a:solidFill>
              </a:rPr>
              <a:t>DISINFORMAZIONE E INFORMAZIONI ILLEGALI</a:t>
            </a:r>
            <a:endParaRPr lang="en-US" sz="4800" kern="1200" dirty="0">
              <a:solidFill>
                <a:srgbClr val="FFFFFF"/>
              </a:solidFill>
              <a:latin typeface="+mj-lt"/>
              <a:ea typeface="+mj-ea"/>
              <a:cs typeface="+mj-cs"/>
            </a:endParaRPr>
          </a:p>
        </p:txBody>
      </p:sp>
      <p:sp>
        <p:nvSpPr>
          <p:cNvPr id="3" name="Sottotitolo 2">
            <a:extLst>
              <a:ext uri="{FF2B5EF4-FFF2-40B4-BE49-F238E27FC236}">
                <a16:creationId xmlns:a16="http://schemas.microsoft.com/office/drawing/2014/main" id="{F76A3BD0-0760-DD94-413E-A3455DAFEB29}"/>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1C9872C6-4B5E-341F-7564-E81E1CAEF217}"/>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532062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7E3998-9843-993D-A1AA-D35A7AF11FD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8960DE-DDBF-8AA8-E3B8-1923F6D3E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D62B127-2B72-374B-6E18-706E52EB4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2B8815-2CEF-AF09-5388-34C8208485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BE4355-469B-4356-F826-E0BEA3198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AFE8C08-66BD-0590-2008-255AA4024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92E27F6-E878-F5E8-EC1A-0B0BBAF9056B}"/>
              </a:ext>
            </a:extLst>
          </p:cNvPr>
          <p:cNvSpPr>
            <a:spLocks noGrp="1"/>
          </p:cNvSpPr>
          <p:nvPr>
            <p:ph type="title"/>
          </p:nvPr>
        </p:nvSpPr>
        <p:spPr>
          <a:xfrm>
            <a:off x="1371599" y="294538"/>
            <a:ext cx="9895951" cy="1033669"/>
          </a:xfrm>
        </p:spPr>
        <p:txBody>
          <a:bodyPr>
            <a:normAutofit fontScale="90000"/>
          </a:bodyPr>
          <a:lstStyle/>
          <a:p>
            <a:pPr>
              <a:lnSpc>
                <a:spcPct val="90000"/>
              </a:lnSpc>
              <a:spcBef>
                <a:spcPct val="0"/>
              </a:spcBef>
              <a:spcAft>
                <a:spcPts val="600"/>
              </a:spcAft>
            </a:pPr>
            <a:r>
              <a:rPr lang="it-IT" sz="4000" dirty="0">
                <a:solidFill>
                  <a:srgbClr val="FFFFFF"/>
                </a:solidFill>
              </a:rPr>
              <a:t>DISINFORMAZIONE E INFORMAZIONI ILLEGALI</a:t>
            </a:r>
            <a:endParaRPr lang="en-US" sz="4000" kern="1200" dirty="0">
              <a:solidFill>
                <a:srgbClr val="FFFFFF"/>
              </a:solidFill>
              <a:latin typeface="+mj-lt"/>
              <a:ea typeface="+mj-ea"/>
              <a:cs typeface="+mj-cs"/>
            </a:endParaRPr>
          </a:p>
        </p:txBody>
      </p:sp>
      <p:sp>
        <p:nvSpPr>
          <p:cNvPr id="15" name="CasellaDiTesto 14">
            <a:extLst>
              <a:ext uri="{FF2B5EF4-FFF2-40B4-BE49-F238E27FC236}">
                <a16:creationId xmlns:a16="http://schemas.microsoft.com/office/drawing/2014/main" id="{9AD30D1A-E18D-6FC1-8B1B-C7308CDC55BA}"/>
              </a:ext>
            </a:extLst>
          </p:cNvPr>
          <p:cNvSpPr txBox="1"/>
          <p:nvPr/>
        </p:nvSpPr>
        <p:spPr>
          <a:xfrm>
            <a:off x="375039" y="2174311"/>
            <a:ext cx="11441918" cy="4093428"/>
          </a:xfrm>
          <a:prstGeom prst="rect">
            <a:avLst/>
          </a:prstGeom>
          <a:noFill/>
        </p:spPr>
        <p:txBody>
          <a:bodyPr wrap="square" rtlCol="0">
            <a:spAutoFit/>
          </a:bodyPr>
          <a:lstStyle/>
          <a:p>
            <a:pPr algn="just"/>
            <a:r>
              <a:rPr lang="it-IT" sz="2000" b="1" dirty="0"/>
              <a:t>CONTENUTO ILLEGALE</a:t>
            </a:r>
            <a:r>
              <a:rPr lang="it-IT" sz="2000" dirty="0"/>
              <a:t>: qualsiasi informazione che, di per sé o in relazione a un’attività, tra cui la vendita di prodotti o la prestazione di servizi, non è conforme al diritto dell’Unione o di qualunque Stato membro conforme con il diritto dell’Unione, indipendentemente dalla natura o dall’oggetto specifico di tale diritto. </a:t>
            </a:r>
            <a:r>
              <a:rPr lang="it-IT" sz="2000" b="1" dirty="0"/>
              <a:t>Tale concetto dovrebbe, in particolare, intendersi riferito alle informazioni, indipendentemente dalla loro forma, che ai sensi del diritto applicabile sono di per sé illegali, quali: l’illecito incitamento all’odio o ai contenuti terroristici illegali e i contenuti discriminatori illegali, o che le norme applicabili rendono illegali in considerazione del fatto che riguardano attività illegali. Ad esempio: condivisione di immagini che ritraggono abusi sessuali su minori, la condivisione non consensuale illegale di immagini private, il cyberstalking, la vendita di prodotti non conformi o contraffatti, l’utilizzo non autorizzato di materiale protetto dal diritto d’autore, ecc.. </a:t>
            </a:r>
            <a:r>
              <a:rPr lang="it-IT" sz="2000" dirty="0"/>
              <a:t>Per contro, un video di un testimone oculare di un potenziale reato non dovrebbe essere considerato un contenuto illegale per il solo motivo di mostrare un atto illecito quando la registrazione o la diffusione di tale video al pubblico non è illegale ai sensi del diritto nazionale o dell’Unione.</a:t>
            </a:r>
          </a:p>
        </p:txBody>
      </p:sp>
    </p:spTree>
    <p:extLst>
      <p:ext uri="{BB962C8B-B14F-4D97-AF65-F5344CB8AC3E}">
        <p14:creationId xmlns:p14="http://schemas.microsoft.com/office/powerpoint/2010/main" val="1601409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BEE29F-E44C-EE24-3F91-4003436677F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F8C5FA0-1372-8266-F2BC-F2E058BB5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D8EA538-8083-4324-5B4E-D77E01C43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8FEFC3-BADF-7E86-36E1-C985653081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AEFF896-61B5-EF39-6C83-350329FA9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704C308-C7DC-9DA0-811D-157978445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EAAAEA6-C228-C56E-F428-918B52D10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0DFDCDAA-6E3C-2D7B-4E10-B306138BF85A}"/>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it-IT" sz="4800" dirty="0">
                <a:solidFill>
                  <a:srgbClr val="FFFFFF"/>
                </a:solidFill>
              </a:rPr>
              <a:t>DARK PATTERNS</a:t>
            </a:r>
            <a:endParaRPr lang="en-US" sz="4800" kern="1200" dirty="0">
              <a:solidFill>
                <a:srgbClr val="FFFFFF"/>
              </a:solidFill>
              <a:latin typeface="+mj-lt"/>
              <a:ea typeface="+mj-ea"/>
              <a:cs typeface="+mj-cs"/>
            </a:endParaRPr>
          </a:p>
        </p:txBody>
      </p:sp>
      <p:sp>
        <p:nvSpPr>
          <p:cNvPr id="3" name="Sottotitolo 2">
            <a:extLst>
              <a:ext uri="{FF2B5EF4-FFF2-40B4-BE49-F238E27FC236}">
                <a16:creationId xmlns:a16="http://schemas.microsoft.com/office/drawing/2014/main" id="{83928B16-91EF-A76C-37AA-82A44283FE99}"/>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FDCD6D57-BDB5-E1E3-F233-AB0EA34954B3}"/>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105302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4AA2C3-BD42-2283-1CD8-4C5F61B795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EB1E6A-F73E-DE24-1434-576141413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1ED65C-709D-B944-6A82-4706B08F4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0E40A4-3DB0-416E-ACCD-6489085FAF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DABB9EC-E8ED-C56F-C178-1E378B436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7FBCCE2-4115-D54C-E022-B5168CA2D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CE149AC-00F3-A02F-E007-AFAAB6BB3299}"/>
              </a:ext>
            </a:extLst>
          </p:cNvPr>
          <p:cNvSpPr>
            <a:spLocks noGrp="1"/>
          </p:cNvSpPr>
          <p:nvPr>
            <p:ph type="title"/>
          </p:nvPr>
        </p:nvSpPr>
        <p:spPr>
          <a:xfrm>
            <a:off x="1371599" y="294538"/>
            <a:ext cx="9895951" cy="1033669"/>
          </a:xfrm>
        </p:spPr>
        <p:txBody>
          <a:bodyPr>
            <a:normAutofit/>
          </a:bodyPr>
          <a:lstStyle/>
          <a:p>
            <a:pPr>
              <a:lnSpc>
                <a:spcPct val="90000"/>
              </a:lnSpc>
              <a:spcBef>
                <a:spcPct val="0"/>
              </a:spcBef>
              <a:spcAft>
                <a:spcPts val="600"/>
              </a:spcAft>
            </a:pPr>
            <a:r>
              <a:rPr lang="it-IT" sz="4000" dirty="0">
                <a:solidFill>
                  <a:srgbClr val="FFFFFF"/>
                </a:solidFill>
              </a:rPr>
              <a:t>DARK PATTERNS</a:t>
            </a:r>
            <a:endParaRPr lang="en-US" sz="4000" kern="1200" dirty="0">
              <a:solidFill>
                <a:srgbClr val="FFFFFF"/>
              </a:solidFill>
              <a:latin typeface="+mj-lt"/>
              <a:ea typeface="+mj-ea"/>
              <a:cs typeface="+mj-cs"/>
            </a:endParaRPr>
          </a:p>
        </p:txBody>
      </p:sp>
      <p:sp>
        <p:nvSpPr>
          <p:cNvPr id="15" name="CasellaDiTesto 14">
            <a:extLst>
              <a:ext uri="{FF2B5EF4-FFF2-40B4-BE49-F238E27FC236}">
                <a16:creationId xmlns:a16="http://schemas.microsoft.com/office/drawing/2014/main" id="{1CC96D64-6FF3-C048-CB86-B59E366FE5DB}"/>
              </a:ext>
            </a:extLst>
          </p:cNvPr>
          <p:cNvSpPr txBox="1"/>
          <p:nvPr/>
        </p:nvSpPr>
        <p:spPr>
          <a:xfrm>
            <a:off x="375039" y="1854481"/>
            <a:ext cx="11441918" cy="4708981"/>
          </a:xfrm>
          <a:prstGeom prst="rect">
            <a:avLst/>
          </a:prstGeom>
          <a:noFill/>
        </p:spPr>
        <p:txBody>
          <a:bodyPr wrap="square" rtlCol="0">
            <a:spAutoFit/>
          </a:bodyPr>
          <a:lstStyle/>
          <a:p>
            <a:pPr algn="just"/>
            <a:r>
              <a:rPr lang="it-IT" sz="2000" b="1" dirty="0"/>
              <a:t>DARK PATTERNS</a:t>
            </a:r>
            <a:r>
              <a:rPr lang="it-IT" sz="2000" dirty="0"/>
              <a:t>: Modalità di design utilizzate per </a:t>
            </a:r>
            <a:r>
              <a:rPr lang="it-IT" sz="2000" b="1" dirty="0"/>
              <a:t>distorcere o compromettere in misura rilevante, intenzionalmente o di fatto, la capacità dei destinatari del servizio di compiere scelte o decisioni autonome e informate</a:t>
            </a:r>
            <a:r>
              <a:rPr lang="it-IT" sz="2000" dirty="0"/>
              <a:t>. Tali pratiche possono essere utilizzate per convincere i destinatari del servizio ad adottare comportamenti indesiderati o decisioni indesiderate che abbiano conseguenze negative per loro. Ad esempio: quanto è facile creare un account e quanto è difficile eliminarlo? Quanto è facile acquistare e quanto è più difficile bloccare l’acquisto? Quanto è facile accettare i cookie e quanto è più difficile rifiutarli con un click su un pulsante nascosto?</a:t>
            </a:r>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r>
              <a:rPr lang="it-IT" sz="2000" dirty="0"/>
              <a:t>Divieto di progettare, organizzare e gestire le interfacce online  in modo tale da ingannare o manipolare i destinatari o da materialmente falsare o compromettere altrimenti la capacità di prendere decisioni libere e informate.</a:t>
            </a:r>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r>
              <a:rPr lang="it-IT" sz="2000" dirty="0">
                <a:hlinkClick r:id="rId2"/>
              </a:rPr>
              <a:t>LINEE GUIDA EDPB</a:t>
            </a:r>
            <a:endParaRPr lang="it-IT" sz="2000" dirty="0"/>
          </a:p>
          <a:p>
            <a:pPr marL="342900" indent="-342900" algn="just">
              <a:buFont typeface="Arial" panose="020B0604020202020204" pitchFamily="34" charset="0"/>
              <a:buChar char="•"/>
            </a:pPr>
            <a:endParaRPr lang="it-IT" sz="2000" dirty="0"/>
          </a:p>
          <a:p>
            <a:pPr marL="342900" indent="-342900" algn="just">
              <a:buFont typeface="Arial" panose="020B0604020202020204" pitchFamily="34" charset="0"/>
              <a:buChar char="•"/>
            </a:pPr>
            <a:r>
              <a:rPr lang="it-IT" sz="2000" dirty="0">
                <a:hlinkClick r:id="rId3"/>
              </a:rPr>
              <a:t>DECEPTIVE.DESIGN</a:t>
            </a:r>
            <a:r>
              <a:rPr lang="it-IT" sz="2000" dirty="0"/>
              <a:t> (elenco delle principali tipologie di Dark Patterns)</a:t>
            </a:r>
          </a:p>
        </p:txBody>
      </p:sp>
    </p:spTree>
    <p:extLst>
      <p:ext uri="{BB962C8B-B14F-4D97-AF65-F5344CB8AC3E}">
        <p14:creationId xmlns:p14="http://schemas.microsoft.com/office/powerpoint/2010/main" val="232039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5DD404-3B8B-C535-50A5-E250B1ADFD8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7601F3-0044-E7E7-0A6A-C98C52AFD3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524F9B8-21D7-2D42-5E8B-0B755BEDA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E08A06-833B-21F6-6E8F-FD84A89B9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B0B72B6-6874-8F34-2857-B28D58408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16BDA7-80F8-3B63-0F9F-E7C1E2B82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28870F81-DAB4-CDA9-8046-0DED1059C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310221A1-97A1-0BD3-3D2F-CB66B1A2D6E0}"/>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it-IT" sz="4800" dirty="0">
                <a:solidFill>
                  <a:srgbClr val="FFFFFF"/>
                </a:solidFill>
              </a:rPr>
              <a:t>REPORT DI TRASPARENZA</a:t>
            </a:r>
            <a:endParaRPr lang="en-US" sz="4800" kern="1200" dirty="0">
              <a:solidFill>
                <a:srgbClr val="FFFFFF"/>
              </a:solidFill>
              <a:latin typeface="+mj-lt"/>
              <a:ea typeface="+mj-ea"/>
              <a:cs typeface="+mj-cs"/>
            </a:endParaRPr>
          </a:p>
        </p:txBody>
      </p:sp>
      <p:sp>
        <p:nvSpPr>
          <p:cNvPr id="3" name="Sottotitolo 2">
            <a:extLst>
              <a:ext uri="{FF2B5EF4-FFF2-40B4-BE49-F238E27FC236}">
                <a16:creationId xmlns:a16="http://schemas.microsoft.com/office/drawing/2014/main" id="{033A4F3D-3579-8724-4A63-117D2420A0D5}"/>
              </a:ext>
            </a:extLst>
          </p:cNvPr>
          <p:cNvSpPr>
            <a:spLocks noGrp="1"/>
          </p:cNvSpPr>
          <p:nvPr>
            <p:ph type="subTitle" idx="1"/>
          </p:nvPr>
        </p:nvSpPr>
        <p:spPr>
          <a:xfrm>
            <a:off x="1138518" y="4875589"/>
            <a:ext cx="10005951" cy="1458258"/>
          </a:xfrm>
        </p:spPr>
        <p:txBody>
          <a:bodyPr vert="horz" lIns="91440" tIns="45720" rIns="91440" bIns="45720" rtlCol="0" anchor="ctr">
            <a:normAutofit/>
          </a:bodyPr>
          <a:lstStyle/>
          <a:p>
            <a:pPr algn="l"/>
            <a:r>
              <a:rPr lang="en-US" kern="1200" dirty="0" err="1">
                <a:solidFill>
                  <a:schemeClr val="tx1"/>
                </a:solidFill>
                <a:latin typeface="+mn-lt"/>
                <a:ea typeface="+mn-ea"/>
                <a:cs typeface="+mn-cs"/>
              </a:rPr>
              <a:t>Esempio</a:t>
            </a:r>
            <a:r>
              <a:rPr lang="en-US" dirty="0"/>
              <a:t>: </a:t>
            </a:r>
            <a:r>
              <a:rPr lang="en-US" b="1" dirty="0">
                <a:hlinkClick r:id="rId2"/>
              </a:rPr>
              <a:t>REPORT DI TIKTOK</a:t>
            </a:r>
            <a:endParaRPr lang="en-US" b="1"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6CE9810B-9EA8-EED4-B446-76277C618FD3}"/>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526324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5D989A-B85E-781C-53A1-127D8E55605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68CE9C-63C0-DC21-EE39-2168E5A355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9B9093-BFBA-F9BA-2526-22C08E003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E52578B-AFC8-0454-9984-AF94D22E7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199F7E-D6A8-B8A2-4E35-09D06D9F1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A583F8B-69A2-C002-A91D-5A1B00376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964DF0E-079D-8E6C-D24C-E8D04C2EB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asellaDiTesto 3">
            <a:extLst>
              <a:ext uri="{FF2B5EF4-FFF2-40B4-BE49-F238E27FC236}">
                <a16:creationId xmlns:a16="http://schemas.microsoft.com/office/drawing/2014/main" id="{AAF730E0-B93B-1BDF-D6DE-A8B5E3D4B85D}"/>
              </a:ext>
            </a:extLst>
          </p:cNvPr>
          <p:cNvSpPr txBox="1"/>
          <p:nvPr/>
        </p:nvSpPr>
        <p:spPr>
          <a:xfrm>
            <a:off x="1314824" y="735106"/>
            <a:ext cx="10053763" cy="29284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dirty="0">
                <a:solidFill>
                  <a:srgbClr val="FFFFFF"/>
                </a:solidFill>
                <a:latin typeface="+mj-lt"/>
                <a:ea typeface="+mj-ea"/>
                <a:cs typeface="+mj-cs"/>
              </a:rPr>
              <a:t>SANZIONI</a:t>
            </a:r>
          </a:p>
        </p:txBody>
      </p:sp>
      <p:sp>
        <p:nvSpPr>
          <p:cNvPr id="3" name="Sottotitolo 2">
            <a:extLst>
              <a:ext uri="{FF2B5EF4-FFF2-40B4-BE49-F238E27FC236}">
                <a16:creationId xmlns:a16="http://schemas.microsoft.com/office/drawing/2014/main" id="{387A2AD1-0CBB-5842-0193-040F3A0A05AA}"/>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endParaRPr lang="en-US" kern="1200" dirty="0">
              <a:solidFill>
                <a:schemeClr val="tx1"/>
              </a:solidFill>
              <a:latin typeface="+mn-lt"/>
              <a:ea typeface="+mn-ea"/>
              <a:cs typeface="+mn-cs"/>
            </a:endParaRPr>
          </a:p>
          <a:p>
            <a:pPr algn="l"/>
            <a:endParaRPr lang="en-US" kern="1200" dirty="0">
              <a:solidFill>
                <a:schemeClr val="tx1"/>
              </a:solidFill>
              <a:latin typeface="+mn-lt"/>
              <a:ea typeface="+mn-ea"/>
              <a:cs typeface="+mn-cs"/>
            </a:endParaRPr>
          </a:p>
        </p:txBody>
      </p:sp>
      <p:sp>
        <p:nvSpPr>
          <p:cNvPr id="2" name="Sottotitolo 2">
            <a:extLst>
              <a:ext uri="{FF2B5EF4-FFF2-40B4-BE49-F238E27FC236}">
                <a16:creationId xmlns:a16="http://schemas.microsoft.com/office/drawing/2014/main" id="{B7090335-7696-2BF1-9B06-A79B3CDDD34E}"/>
              </a:ext>
            </a:extLst>
          </p:cNvPr>
          <p:cNvSpPr txBox="1">
            <a:spLocks/>
          </p:cNvSpPr>
          <p:nvPr/>
        </p:nvSpPr>
        <p:spPr>
          <a:xfrm>
            <a:off x="1138518" y="4166509"/>
            <a:ext cx="9144000" cy="9797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it-IT" dirty="0"/>
          </a:p>
        </p:txBody>
      </p:sp>
    </p:spTree>
    <p:extLst>
      <p:ext uri="{BB962C8B-B14F-4D97-AF65-F5344CB8AC3E}">
        <p14:creationId xmlns:p14="http://schemas.microsoft.com/office/powerpoint/2010/main" val="2106253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2D7E1A-38D5-390F-AAB2-89D8826EE4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441DA7-7E35-96E3-EDD0-9937C2101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E39FFC-4AB2-029A-2DC4-94AED6006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D843C6-45AB-3585-804C-1ED2DC1E9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D0F467-E02A-3860-171E-39913910E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0B5BB-7B9A-C6A6-BAE1-9ACAF1291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E9F00BC-A7DC-4CBC-0917-30A060E7D95F}"/>
              </a:ext>
            </a:extLst>
          </p:cNvPr>
          <p:cNvSpPr>
            <a:spLocks noGrp="1"/>
          </p:cNvSpPr>
          <p:nvPr>
            <p:ph type="title"/>
          </p:nvPr>
        </p:nvSpPr>
        <p:spPr>
          <a:xfrm>
            <a:off x="1371599" y="294538"/>
            <a:ext cx="9895951" cy="1033669"/>
          </a:xfrm>
        </p:spPr>
        <p:txBody>
          <a:bodyPr>
            <a:normAutofit/>
          </a:bodyPr>
          <a:lstStyle/>
          <a:p>
            <a:r>
              <a:rPr lang="it-IT" sz="4000" dirty="0">
                <a:solidFill>
                  <a:srgbClr val="FFFFFF"/>
                </a:solidFill>
              </a:rPr>
              <a:t>SANZIONI</a:t>
            </a:r>
          </a:p>
        </p:txBody>
      </p:sp>
      <p:sp>
        <p:nvSpPr>
          <p:cNvPr id="3" name="Segnaposto contenuto 2">
            <a:extLst>
              <a:ext uri="{FF2B5EF4-FFF2-40B4-BE49-F238E27FC236}">
                <a16:creationId xmlns:a16="http://schemas.microsoft.com/office/drawing/2014/main" id="{16D2FDFF-8F56-80BF-F1BF-86E8DA240086}"/>
              </a:ext>
            </a:extLst>
          </p:cNvPr>
          <p:cNvSpPr>
            <a:spLocks noGrp="1"/>
          </p:cNvSpPr>
          <p:nvPr>
            <p:ph idx="1"/>
          </p:nvPr>
        </p:nvSpPr>
        <p:spPr>
          <a:xfrm>
            <a:off x="1371599" y="2318197"/>
            <a:ext cx="9724031" cy="3683358"/>
          </a:xfrm>
        </p:spPr>
        <p:txBody>
          <a:bodyPr anchor="ctr">
            <a:normAutofit/>
          </a:bodyPr>
          <a:lstStyle/>
          <a:p>
            <a:pPr marL="0" indent="0" algn="just">
              <a:buNone/>
            </a:pPr>
            <a:r>
              <a:rPr lang="it-IT" sz="2000" dirty="0"/>
              <a:t>Le sanzioni in Italia sono irrogate dal Coordinatore AGCOM. Sanzioni amministrative pecuniarie fino ad un massimo del 6% del fatturato annuo mondiale nell’esercizio finanziario precedente alla comunicazione di avvio del procedimento.</a:t>
            </a:r>
          </a:p>
        </p:txBody>
      </p:sp>
    </p:spTree>
    <p:extLst>
      <p:ext uri="{BB962C8B-B14F-4D97-AF65-F5344CB8AC3E}">
        <p14:creationId xmlns:p14="http://schemas.microsoft.com/office/powerpoint/2010/main" val="386025140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532</TotalTime>
  <Words>2509</Words>
  <Application>Microsoft Office PowerPoint</Application>
  <PresentationFormat>Widescreen</PresentationFormat>
  <Paragraphs>211</Paragraphs>
  <Slides>33</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33</vt:i4>
      </vt:variant>
    </vt:vector>
  </HeadingPairs>
  <TitlesOfParts>
    <vt:vector size="37" baseType="lpstr">
      <vt:lpstr>Aptos</vt:lpstr>
      <vt:lpstr>Aptos Display</vt:lpstr>
      <vt:lpstr>Arial</vt:lpstr>
      <vt:lpstr>Tema di Office</vt:lpstr>
      <vt:lpstr>Presentazione standard di PowerPoint</vt:lpstr>
      <vt:lpstr>Presentazione standard di PowerPoint</vt:lpstr>
      <vt:lpstr>REGOLAMENTI</vt:lpstr>
      <vt:lpstr>Presentazione standard di PowerPoint</vt:lpstr>
      <vt:lpstr>PRINCIPALI OBIETTIVI GDPR</vt:lpstr>
      <vt:lpstr>Presentazione standard di PowerPoint</vt:lpstr>
      <vt:lpstr>DATO PERSONALE (art.4)</vt:lpstr>
      <vt:lpstr>DECLINAZIONI DEL DATO PERSONALE</vt:lpstr>
      <vt:lpstr>DECLINAZIONI DEL DATO PERSONALE</vt:lpstr>
      <vt:lpstr>VIOLAZIONE DEL DATO PERSONALE</vt:lpstr>
      <vt:lpstr>Presentazione standard di PowerPoint</vt:lpstr>
      <vt:lpstr>DIRITTI</vt:lpstr>
      <vt:lpstr>Presentazione standard di PowerPoint</vt:lpstr>
      <vt:lpstr>INFORMATIVA</vt:lpstr>
      <vt:lpstr>Presentazione standard di PowerPoint</vt:lpstr>
      <vt:lpstr>PRIVACY POLICY</vt:lpstr>
      <vt:lpstr>PRIVACY POLICY</vt:lpstr>
      <vt:lpstr>COOKIE POLICY</vt:lpstr>
      <vt:lpstr>Presentazione standard di PowerPoint</vt:lpstr>
      <vt:lpstr>SANZIONI</vt:lpstr>
      <vt:lpstr>Presentazione standard di PowerPoint</vt:lpstr>
      <vt:lpstr>PRINCIPALI OBIETTIVI DSA</vt:lpstr>
      <vt:lpstr>CATEGORIE DI INTERMEDIARI</vt:lpstr>
      <vt:lpstr>OBBLIGHI</vt:lpstr>
      <vt:lpstr>Presentazione standard di PowerPoint</vt:lpstr>
      <vt:lpstr>PUBBLCITÀ E CONTENUTI NELLE PIATTAFORME ONLINE</vt:lpstr>
      <vt:lpstr>Presentazione standard di PowerPoint</vt:lpstr>
      <vt:lpstr>DISINFORMAZIONE E INFORMAZIONI ILLEGALI</vt:lpstr>
      <vt:lpstr>Presentazione standard di PowerPoint</vt:lpstr>
      <vt:lpstr>DARK PATTERNS</vt:lpstr>
      <vt:lpstr>Presentazione standard di PowerPoint</vt:lpstr>
      <vt:lpstr>Presentazione standard di PowerPoint</vt:lpstr>
      <vt:lpstr>SANZIONI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Alessandro Cazzaniga</dc:creator>
  <cp:lastModifiedBy>Gabriele Alessandro Cazzaniga</cp:lastModifiedBy>
  <cp:revision>16</cp:revision>
  <dcterms:created xsi:type="dcterms:W3CDTF">2025-01-10T16:56:52Z</dcterms:created>
  <dcterms:modified xsi:type="dcterms:W3CDTF">2025-01-29T17:59:20Z</dcterms:modified>
</cp:coreProperties>
</file>